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67A7"/>
    <a:srgbClr val="CF89BB"/>
    <a:srgbClr val="573511"/>
    <a:srgbClr val="886644"/>
    <a:srgbClr val="CD84B8"/>
    <a:srgbClr val="DE86D4"/>
    <a:srgbClr val="DFE3E7"/>
    <a:srgbClr val="537C95"/>
    <a:srgbClr val="FFFFFF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78AD0-BD04-464B-ACC7-DC91AA0C0CC0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94B3A-E831-499A-9DDE-CFDF3FC7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69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94B3A-E831-499A-9DDE-CFDF3FC72C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9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291E-A316-A283-ED7E-435FA2F9E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70CC3-D91E-05D8-D583-E6AC9BE5A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E87BD-9CA5-805D-FCA5-8D21A47D4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6DE47-884D-B376-13F2-A2AAE0F41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65E42-6281-AC60-6DF1-192DAB74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64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42BB-2D26-6DE5-B1C0-D5CF1F9A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25F9B-2325-2D38-DA12-0FC0EA9CD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AD3BE-B570-85B2-00A2-ABD1C2A0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732C4-F7D0-73DB-FC17-72EB58237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AE9EA-C6A3-DFF7-0B80-B5F7E3D9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8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BC14-B0B4-6E57-06D8-282E00BD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A5BD2-FAAE-0C26-BE66-9806A3EE2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60669-0913-6C44-C024-EC422D58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6ACB0-4DB9-2BF5-ADF9-2D9EAE79C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632D8-917C-BD63-7198-3AE103900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6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4FF1-D426-B541-2164-A13566EC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065DD-3C5D-8103-EDF9-5D8AF15F3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F8B85-FE51-75C5-FE68-771729F28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CB4E3-13C8-1716-E438-08C5E4003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111C2-E84E-AEDD-C839-A7776C6B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0898E-4473-366D-E09C-021B7667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0E1F-BD1F-C242-65AA-2B41E8639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ECCAD-D865-4935-C9E0-CCF8C0089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1D2A6-044E-4935-E7DD-398E3A252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5596F-40E3-8526-78AD-19307FBD7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B09754-F44F-DA01-B454-F4DDB7CA2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7D04E-FDAC-3629-8B16-84F8ACFA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C5356C-F979-D1C3-0FE7-CD6FB0FC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50B33B-28AA-251E-F30E-C743B1A9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07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94B3-C5B6-E5AF-3D80-3DE3C32F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B021F-7A23-22E0-3A44-8EE383F0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9B88B-172D-1842-7A8C-C617E5D6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131E0-BF1E-EF38-270F-B814A2FE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8700FE-70A9-5B83-97C5-57B2CD7F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CBD12-C64E-F7C3-6B0C-2152F75B5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0DB24-3B1D-4D9C-42C2-0B1F2610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4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DF89-F8CC-F207-B2D7-720BA9814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ABB55-D1C8-AA4E-55E7-92A46D077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ADF4D-C0C5-5840-11E3-9791F2651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80C82-B003-5CAE-1881-6B0E1D82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84653-B0A0-CACD-BC7A-F9C2E2A65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60E47-D7C0-AB0E-DF12-DCC1B154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4C3F-1C48-B547-CD7A-1845236B4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8278-FA1C-D603-7C12-C65A564D3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58463-1759-F364-79A6-708EA2D32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3B01C-A6D6-CEBC-704E-50306CB0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22A10-4345-595C-8E45-85FB7F75E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201E6-6DF5-A645-49AE-F6908BA9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7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7113-A100-40D9-068A-0E6BE530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F89CE-FEFB-A99B-C785-1A5FA24AD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453BB-D022-7C4E-A086-A90D98087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5923C-1CAD-6058-5699-7CA4712E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EE64B-0541-4FAA-887F-F1BB8A06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72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7E9B9-CC27-01EA-6412-C154A258F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C70B4-3A85-A4C4-1632-EB098D716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641F6-A53B-3BD4-6FF3-A2A57D9DD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49392-3623-86CF-DD73-DDC693CE9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D2291-2856-17AB-DEF1-4B416BA5C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3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08269B-436E-D401-8695-4013CE019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FD5F7-1731-9D8B-6993-11DDC5C59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F348E-A3AB-020B-1A5F-D4830D7F6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E2AE24-7808-4FE3-AC34-AB7996B7215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489B2-6A84-C0CA-DEF8-9883E5962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AAE0D-3601-44EC-DBF1-2FEDC874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FAF11-F974-4B3F-A598-6C64271CB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16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47106A-4334-F3A6-C60B-8975D5BE8B84}"/>
              </a:ext>
            </a:extLst>
          </p:cNvPr>
          <p:cNvSpPr/>
          <p:nvPr/>
        </p:nvSpPr>
        <p:spPr>
          <a:xfrm>
            <a:off x="794254" y="1143000"/>
            <a:ext cx="6118610" cy="4199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A38B2CF-EEAB-964E-17A6-507CC986C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54" y="1252647"/>
            <a:ext cx="5943600" cy="20651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8C2790-CE7A-72A2-12A6-2AD0F5F87FB4}"/>
              </a:ext>
            </a:extLst>
          </p:cNvPr>
          <p:cNvSpPr/>
          <p:nvPr/>
        </p:nvSpPr>
        <p:spPr>
          <a:xfrm>
            <a:off x="5440680" y="1369419"/>
            <a:ext cx="655320" cy="210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059B62-DF6B-B47D-87A2-27978FCA451C}"/>
              </a:ext>
            </a:extLst>
          </p:cNvPr>
          <p:cNvSpPr txBox="1"/>
          <p:nvPr/>
        </p:nvSpPr>
        <p:spPr>
          <a:xfrm>
            <a:off x="5486400" y="3581989"/>
            <a:ext cx="1325880" cy="553998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EPC &gt; bottom SRP</a:t>
            </a:r>
            <a:b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Desorption favored</a:t>
            </a:r>
            <a:b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Sediments P source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867C78-E3CD-64D3-8346-CFF2F755090B}"/>
              </a:ext>
            </a:extLst>
          </p:cNvPr>
          <p:cNvSpPr txBox="1"/>
          <p:nvPr/>
        </p:nvSpPr>
        <p:spPr>
          <a:xfrm>
            <a:off x="5486400" y="4304310"/>
            <a:ext cx="13258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EPC &lt; bottom SRP</a:t>
            </a:r>
            <a:b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Adsorption favored</a:t>
            </a:r>
            <a:b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Sediments P sink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44432-7EF3-B7AD-687D-EB52136D5E0D}"/>
              </a:ext>
            </a:extLst>
          </p:cNvPr>
          <p:cNvSpPr txBox="1"/>
          <p:nvPr/>
        </p:nvSpPr>
        <p:spPr>
          <a:xfrm>
            <a:off x="1295400" y="1579731"/>
            <a:ext cx="175260" cy="190821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18288" rIns="45720" bIns="18288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7BC15-C0D0-3CF4-4FE6-0AEE7587949F}"/>
              </a:ext>
            </a:extLst>
          </p:cNvPr>
          <p:cNvSpPr txBox="1"/>
          <p:nvPr/>
        </p:nvSpPr>
        <p:spPr>
          <a:xfrm>
            <a:off x="2697480" y="1579731"/>
            <a:ext cx="175260" cy="190821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18288" rIns="45720" bIns="18288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64FB98-4A7A-DC07-9EF3-94644D45EEB4}"/>
              </a:ext>
            </a:extLst>
          </p:cNvPr>
          <p:cNvSpPr txBox="1"/>
          <p:nvPr/>
        </p:nvSpPr>
        <p:spPr>
          <a:xfrm>
            <a:off x="4069080" y="1579731"/>
            <a:ext cx="175260" cy="190821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18288" rIns="45720" bIns="18288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FF4D53-5CA5-4739-1C50-337D3637B353}"/>
              </a:ext>
            </a:extLst>
          </p:cNvPr>
          <p:cNvSpPr txBox="1"/>
          <p:nvPr/>
        </p:nvSpPr>
        <p:spPr>
          <a:xfrm>
            <a:off x="1295400" y="3496273"/>
            <a:ext cx="175260" cy="190821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18288" rIns="45720" bIns="18288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1AE87D-3C3A-73E1-B48B-5E1FC0739BC8}"/>
              </a:ext>
            </a:extLst>
          </p:cNvPr>
          <p:cNvSpPr txBox="1"/>
          <p:nvPr/>
        </p:nvSpPr>
        <p:spPr>
          <a:xfrm>
            <a:off x="2697480" y="3496273"/>
            <a:ext cx="175260" cy="190821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18288" rIns="45720" bIns="18288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B79E52-768F-3058-8BA8-5D367CC2913E}"/>
              </a:ext>
            </a:extLst>
          </p:cNvPr>
          <p:cNvSpPr txBox="1"/>
          <p:nvPr/>
        </p:nvSpPr>
        <p:spPr>
          <a:xfrm>
            <a:off x="4069080" y="3496273"/>
            <a:ext cx="175260" cy="190821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18288" rIns="45720" bIns="18288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8096AE1-04FE-C4DA-960D-2532C1D54C66}"/>
              </a:ext>
            </a:extLst>
          </p:cNvPr>
          <p:cNvGrpSpPr/>
          <p:nvPr/>
        </p:nvGrpSpPr>
        <p:grpSpPr>
          <a:xfrm>
            <a:off x="8831128" y="1732581"/>
            <a:ext cx="1535436" cy="1724738"/>
            <a:chOff x="4043364" y="4604997"/>
            <a:chExt cx="1535436" cy="1724738"/>
          </a:xfrm>
        </p:grpSpPr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EAA3065F-7D32-96F9-A2A6-3EC7F7CB4532}"/>
                </a:ext>
              </a:extLst>
            </p:cNvPr>
            <p:cNvSpPr/>
            <p:nvPr/>
          </p:nvSpPr>
          <p:spPr>
            <a:xfrm>
              <a:off x="4107847" y="4604997"/>
              <a:ext cx="1463040" cy="1645804"/>
            </a:xfrm>
            <a:prstGeom prst="rect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BD5DC28-BC20-60A3-BA95-A682A0E66207}"/>
                </a:ext>
              </a:extLst>
            </p:cNvPr>
            <p:cNvSpPr/>
            <p:nvPr/>
          </p:nvSpPr>
          <p:spPr>
            <a:xfrm>
              <a:off x="4617873" y="5565134"/>
              <a:ext cx="365760" cy="3657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CB15098-ABC6-3895-CF4B-D2191B342298}"/>
                </a:ext>
              </a:extLst>
            </p:cNvPr>
            <p:cNvSpPr/>
            <p:nvPr/>
          </p:nvSpPr>
          <p:spPr>
            <a:xfrm>
              <a:off x="4365034" y="5644068"/>
              <a:ext cx="365760" cy="3657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F82F90F-198A-7918-8B4D-2216FF9EA3CE}"/>
                </a:ext>
              </a:extLst>
            </p:cNvPr>
            <p:cNvSpPr/>
            <p:nvPr/>
          </p:nvSpPr>
          <p:spPr>
            <a:xfrm>
              <a:off x="4043364" y="5623615"/>
              <a:ext cx="365760" cy="3657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70E6A7CE-2CC6-2CC6-D780-3DBE03E80C54}"/>
                </a:ext>
              </a:extLst>
            </p:cNvPr>
            <p:cNvSpPr/>
            <p:nvPr/>
          </p:nvSpPr>
          <p:spPr>
            <a:xfrm>
              <a:off x="4070372" y="5929864"/>
              <a:ext cx="365760" cy="3657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3C23ABDB-554D-0B8F-4CAF-2783E730FE2D}"/>
                </a:ext>
              </a:extLst>
            </p:cNvPr>
            <p:cNvSpPr/>
            <p:nvPr/>
          </p:nvSpPr>
          <p:spPr>
            <a:xfrm>
              <a:off x="4460658" y="5963975"/>
              <a:ext cx="365760" cy="3657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7E8A4E1D-7008-74B0-2E46-0245BD5311B5}"/>
                </a:ext>
              </a:extLst>
            </p:cNvPr>
            <p:cNvSpPr/>
            <p:nvPr/>
          </p:nvSpPr>
          <p:spPr>
            <a:xfrm>
              <a:off x="4808816" y="5902648"/>
              <a:ext cx="365760" cy="3657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484CFB13-DE9F-5ADD-A89B-16D798582A1E}"/>
                </a:ext>
              </a:extLst>
            </p:cNvPr>
            <p:cNvSpPr/>
            <p:nvPr/>
          </p:nvSpPr>
          <p:spPr>
            <a:xfrm>
              <a:off x="4897582" y="5682215"/>
              <a:ext cx="365760" cy="3657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80EB869F-AA5A-270A-550C-2ED24BA3BC7A}"/>
                </a:ext>
              </a:extLst>
            </p:cNvPr>
            <p:cNvSpPr/>
            <p:nvPr/>
          </p:nvSpPr>
          <p:spPr>
            <a:xfrm>
              <a:off x="5192382" y="5561503"/>
              <a:ext cx="365760" cy="3657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7DC3D7B4-2630-9562-2398-CA03AEDD3420}"/>
                </a:ext>
              </a:extLst>
            </p:cNvPr>
            <p:cNvSpPr/>
            <p:nvPr/>
          </p:nvSpPr>
          <p:spPr>
            <a:xfrm>
              <a:off x="5213040" y="5924508"/>
              <a:ext cx="365760" cy="3657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A835147-023E-3D1E-6937-D1BB3F3F02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832"/>
          <a:stretch/>
        </p:blipFill>
        <p:spPr>
          <a:xfrm>
            <a:off x="801982" y="3150183"/>
            <a:ext cx="4645954" cy="2073765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5549AEFE-46EC-63B2-9285-E743BD9ACF1A}"/>
              </a:ext>
            </a:extLst>
          </p:cNvPr>
          <p:cNvSpPr/>
          <p:nvPr/>
        </p:nvSpPr>
        <p:spPr>
          <a:xfrm>
            <a:off x="5388770" y="3447508"/>
            <a:ext cx="97630" cy="822960"/>
          </a:xfrm>
          <a:prstGeom prst="rightBrace">
            <a:avLst>
              <a:gd name="adj1" fmla="val 47358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201E46C8-9533-B14A-415D-0655CB815FF3}"/>
              </a:ext>
            </a:extLst>
          </p:cNvPr>
          <p:cNvSpPr/>
          <p:nvPr/>
        </p:nvSpPr>
        <p:spPr>
          <a:xfrm>
            <a:off x="5388770" y="4284129"/>
            <a:ext cx="97630" cy="594360"/>
          </a:xfrm>
          <a:prstGeom prst="rightBrace">
            <a:avLst>
              <a:gd name="adj1" fmla="val 47358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D2A18E-3533-4D8C-A05C-0E23EE0DA6B4}"/>
              </a:ext>
            </a:extLst>
          </p:cNvPr>
          <p:cNvSpPr txBox="1"/>
          <p:nvPr/>
        </p:nvSpPr>
        <p:spPr>
          <a:xfrm>
            <a:off x="7608815" y="4135987"/>
            <a:ext cx="1543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6.5 x 2.34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ED0609-2B0F-A1EC-EDB4-32F8D4C69AD8}"/>
              </a:ext>
            </a:extLst>
          </p:cNvPr>
          <p:cNvSpPr txBox="1"/>
          <p:nvPr/>
        </p:nvSpPr>
        <p:spPr>
          <a:xfrm>
            <a:off x="1288409" y="3477043"/>
            <a:ext cx="175260" cy="190821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18288" rIns="45720" bIns="18288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C898A2-2E0C-37A8-7316-CC97C038A4D8}"/>
              </a:ext>
            </a:extLst>
          </p:cNvPr>
          <p:cNvSpPr txBox="1"/>
          <p:nvPr/>
        </p:nvSpPr>
        <p:spPr>
          <a:xfrm>
            <a:off x="2690489" y="3477043"/>
            <a:ext cx="175260" cy="190821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18288" rIns="45720" bIns="18288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3AB4BA-84C1-9199-6F6E-56EA85DFCF2E}"/>
              </a:ext>
            </a:extLst>
          </p:cNvPr>
          <p:cNvSpPr txBox="1"/>
          <p:nvPr/>
        </p:nvSpPr>
        <p:spPr>
          <a:xfrm>
            <a:off x="4062089" y="3477043"/>
            <a:ext cx="175260" cy="190821"/>
          </a:xfrm>
          <a:prstGeom prst="rect">
            <a:avLst/>
          </a:prstGeom>
          <a:solidFill>
            <a:schemeClr val="bg1"/>
          </a:solidFill>
        </p:spPr>
        <p:txBody>
          <a:bodyPr wrap="square" lIns="45720" tIns="18288" rIns="45720" bIns="18288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241063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14">
            <a:extLst>
              <a:ext uri="{FF2B5EF4-FFF2-40B4-BE49-F238E27FC236}">
                <a16:creationId xmlns:a16="http://schemas.microsoft.com/office/drawing/2014/main" id="{14374580-2BDB-72D3-7097-238CE2486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511" y="1704524"/>
            <a:ext cx="3207315" cy="2743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89C6431-5C99-AC75-6C6C-19C82956E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l="4016" t="1034" r="16794" b="7900"/>
          <a:stretch/>
        </p:blipFill>
        <p:spPr>
          <a:xfrm>
            <a:off x="7285337" y="1766670"/>
            <a:ext cx="1062133" cy="17544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D445D3F-EEC7-8890-0DEA-AF7A8475FB82}"/>
              </a:ext>
            </a:extLst>
          </p:cNvPr>
          <p:cNvSpPr/>
          <p:nvPr/>
        </p:nvSpPr>
        <p:spPr>
          <a:xfrm>
            <a:off x="7481448" y="2810159"/>
            <a:ext cx="228600" cy="228600"/>
          </a:xfrm>
          <a:prstGeom prst="ellipse">
            <a:avLst/>
          </a:prstGeom>
          <a:solidFill>
            <a:srgbClr val="CF89BB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714B62-870D-249D-29A0-CA8CD2F320C1}"/>
              </a:ext>
            </a:extLst>
          </p:cNvPr>
          <p:cNvSpPr/>
          <p:nvPr/>
        </p:nvSpPr>
        <p:spPr>
          <a:xfrm>
            <a:off x="7793950" y="2919766"/>
            <a:ext cx="228600" cy="228600"/>
          </a:xfrm>
          <a:prstGeom prst="ellipse">
            <a:avLst/>
          </a:prstGeom>
          <a:solidFill>
            <a:srgbClr val="CF89BB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A48015F-7D95-22A8-3CBF-5BAD135D076B}"/>
              </a:ext>
            </a:extLst>
          </p:cNvPr>
          <p:cNvSpPr/>
          <p:nvPr/>
        </p:nvSpPr>
        <p:spPr>
          <a:xfrm>
            <a:off x="7579995" y="2104932"/>
            <a:ext cx="228600" cy="228600"/>
          </a:xfrm>
          <a:prstGeom prst="ellipse">
            <a:avLst/>
          </a:prstGeom>
          <a:solidFill>
            <a:srgbClr val="CF89BB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4D63BFD-A2AD-EF42-70ED-193D3777C276}"/>
              </a:ext>
            </a:extLst>
          </p:cNvPr>
          <p:cNvSpPr/>
          <p:nvPr/>
        </p:nvSpPr>
        <p:spPr>
          <a:xfrm>
            <a:off x="7858863" y="2223685"/>
            <a:ext cx="228600" cy="228600"/>
          </a:xfrm>
          <a:prstGeom prst="ellipse">
            <a:avLst/>
          </a:prstGeom>
          <a:solidFill>
            <a:srgbClr val="CF89BB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F5F1AAF-7511-6B3A-F45F-CAEF1B078AC6}"/>
              </a:ext>
            </a:extLst>
          </p:cNvPr>
          <p:cNvCxnSpPr>
            <a:cxnSpLocks/>
          </p:cNvCxnSpPr>
          <p:nvPr/>
        </p:nvCxnSpPr>
        <p:spPr>
          <a:xfrm flipV="1">
            <a:off x="7801571" y="2414275"/>
            <a:ext cx="0" cy="36576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51AF47F-8FB9-E615-74C7-7154633510A2}"/>
              </a:ext>
            </a:extLst>
          </p:cNvPr>
          <p:cNvSpPr txBox="1"/>
          <p:nvPr/>
        </p:nvSpPr>
        <p:spPr>
          <a:xfrm>
            <a:off x="7277443" y="3586076"/>
            <a:ext cx="1115747" cy="14773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SRP in the overlying water is at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equilibrium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with the capacity of the sediment to sorb loosely-bound P, concentrations in water do not change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38B1FE-63AA-89DF-DDE6-F049F764D0FE}"/>
              </a:ext>
            </a:extLst>
          </p:cNvPr>
          <p:cNvSpPr txBox="1"/>
          <p:nvPr/>
        </p:nvSpPr>
        <p:spPr>
          <a:xfrm>
            <a:off x="3365814" y="3922047"/>
            <a:ext cx="9238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More P desorbs from the sediment in the </a:t>
            </a:r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chloride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A72535-A29A-C45C-FCF8-45DE40D7664F}"/>
              </a:ext>
            </a:extLst>
          </p:cNvPr>
          <p:cNvSpPr txBox="1"/>
          <p:nvPr/>
        </p:nvSpPr>
        <p:spPr>
          <a:xfrm>
            <a:off x="5202936" y="1170651"/>
            <a:ext cx="16027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More P in solution after incubation in the </a:t>
            </a:r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chloride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treatment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3F19469-355E-34E3-6AE1-296F97949ED4}"/>
              </a:ext>
            </a:extLst>
          </p:cNvPr>
          <p:cNvSpPr/>
          <p:nvPr/>
        </p:nvSpPr>
        <p:spPr>
          <a:xfrm>
            <a:off x="6773218" y="1357095"/>
            <a:ext cx="266946" cy="552450"/>
          </a:xfrm>
          <a:custGeom>
            <a:avLst/>
            <a:gdLst>
              <a:gd name="connsiteX0" fmla="*/ 0 w 266946"/>
              <a:gd name="connsiteY0" fmla="*/ 0 h 552450"/>
              <a:gd name="connsiteX1" fmla="*/ 266700 w 266946"/>
              <a:gd name="connsiteY1" fmla="*/ 171450 h 552450"/>
              <a:gd name="connsiteX2" fmla="*/ 38100 w 266946"/>
              <a:gd name="connsiteY2" fmla="*/ 55245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6946" h="552450">
                <a:moveTo>
                  <a:pt x="0" y="0"/>
                </a:moveTo>
                <a:cubicBezTo>
                  <a:pt x="130175" y="39687"/>
                  <a:pt x="260350" y="79375"/>
                  <a:pt x="266700" y="171450"/>
                </a:cubicBezTo>
                <a:cubicBezTo>
                  <a:pt x="273050" y="263525"/>
                  <a:pt x="155575" y="407987"/>
                  <a:pt x="38100" y="55245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C7197B-4C8D-84E0-A6A3-D0B26101DADE}"/>
              </a:ext>
            </a:extLst>
          </p:cNvPr>
          <p:cNvSpPr txBox="1"/>
          <p:nvPr/>
        </p:nvSpPr>
        <p:spPr>
          <a:xfrm>
            <a:off x="4552350" y="4584607"/>
            <a:ext cx="1983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The concentration at which the sediments are in equilibrium with the water (EPC) is greater in the </a:t>
            </a:r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chloride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B4B556BF-A804-9032-FA1D-6513CC0DC17B}"/>
              </a:ext>
            </a:extLst>
          </p:cNvPr>
          <p:cNvSpPr/>
          <p:nvPr/>
        </p:nvSpPr>
        <p:spPr>
          <a:xfrm>
            <a:off x="4503851" y="4233645"/>
            <a:ext cx="211967" cy="581025"/>
          </a:xfrm>
          <a:custGeom>
            <a:avLst/>
            <a:gdLst>
              <a:gd name="connsiteX0" fmla="*/ 116717 w 211967"/>
              <a:gd name="connsiteY0" fmla="*/ 581025 h 581025"/>
              <a:gd name="connsiteX1" fmla="*/ 2417 w 211967"/>
              <a:gd name="connsiteY1" fmla="*/ 333375 h 581025"/>
              <a:gd name="connsiteX2" fmla="*/ 211967 w 211967"/>
              <a:gd name="connsiteY2" fmla="*/ 0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967" h="581025">
                <a:moveTo>
                  <a:pt x="116717" y="581025"/>
                </a:moveTo>
                <a:cubicBezTo>
                  <a:pt x="51629" y="505618"/>
                  <a:pt x="-13458" y="430212"/>
                  <a:pt x="2417" y="333375"/>
                </a:cubicBezTo>
                <a:cubicBezTo>
                  <a:pt x="18292" y="236537"/>
                  <a:pt x="115129" y="118268"/>
                  <a:pt x="211967" y="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CE9A5F-0B2B-AA4F-E0E0-6E41934C1D63}"/>
              </a:ext>
            </a:extLst>
          </p:cNvPr>
          <p:cNvSpPr txBox="1"/>
          <p:nvPr/>
        </p:nvSpPr>
        <p:spPr>
          <a:xfrm>
            <a:off x="3665076" y="1116042"/>
            <a:ext cx="1824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 How EPC is calculated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DC2FFFF-4D4C-CEB4-01B7-0895DAC89D20}"/>
              </a:ext>
            </a:extLst>
          </p:cNvPr>
          <p:cNvSpPr txBox="1"/>
          <p:nvPr/>
        </p:nvSpPr>
        <p:spPr>
          <a:xfrm>
            <a:off x="7304389" y="1087084"/>
            <a:ext cx="3642638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 Interpretation of EPC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4E9C1FB-CB7D-0607-DC7B-5EBF7C9AE1C3}"/>
              </a:ext>
            </a:extLst>
          </p:cNvPr>
          <p:cNvSpPr/>
          <p:nvPr/>
        </p:nvSpPr>
        <p:spPr>
          <a:xfrm>
            <a:off x="7275812" y="1472334"/>
            <a:ext cx="1082045" cy="36622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SRP in overlying water: 30 µg L</a:t>
            </a:r>
            <a:r>
              <a:rPr lang="en-US" sz="900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ECDD6973-5D99-FEBE-562F-8393F50EED09}"/>
              </a:ext>
            </a:extLst>
          </p:cNvPr>
          <p:cNvSpPr/>
          <p:nvPr/>
        </p:nvSpPr>
        <p:spPr>
          <a:xfrm>
            <a:off x="7383391" y="3229493"/>
            <a:ext cx="866023" cy="203155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EPC = 30 µg L</a:t>
            </a:r>
            <a:r>
              <a:rPr lang="en-US" sz="900" baseline="30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9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26AADC4-4F36-C9C4-C11D-3D4CF065B5FD}"/>
              </a:ext>
            </a:extLst>
          </p:cNvPr>
          <p:cNvGrpSpPr/>
          <p:nvPr/>
        </p:nvGrpSpPr>
        <p:grpSpPr>
          <a:xfrm>
            <a:off x="8504791" y="1471069"/>
            <a:ext cx="1109752" cy="3592334"/>
            <a:chOff x="8568799" y="1471069"/>
            <a:chExt cx="1109752" cy="3592334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B884626-064A-97E0-8AFA-60E5D3716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l="4016" t="1034" r="16794" b="7900"/>
            <a:stretch/>
          </p:blipFill>
          <p:spPr>
            <a:xfrm>
              <a:off x="8577073" y="1766670"/>
              <a:ext cx="1062133" cy="1754409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FFF19BC-10DB-5C2E-4329-EFA4C0A36107}"/>
                </a:ext>
              </a:extLst>
            </p:cNvPr>
            <p:cNvSpPr/>
            <p:nvPr/>
          </p:nvSpPr>
          <p:spPr>
            <a:xfrm>
              <a:off x="8786764" y="2879572"/>
              <a:ext cx="228600" cy="228600"/>
            </a:xfrm>
            <a:prstGeom prst="ellipse">
              <a:avLst/>
            </a:prstGeom>
            <a:solidFill>
              <a:srgbClr val="CF89BB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BEC0271-2F6F-C57C-D0D8-306A085742C8}"/>
                </a:ext>
              </a:extLst>
            </p:cNvPr>
            <p:cNvSpPr/>
            <p:nvPr/>
          </p:nvSpPr>
          <p:spPr>
            <a:xfrm>
              <a:off x="9159642" y="1935894"/>
              <a:ext cx="228600" cy="228600"/>
            </a:xfrm>
            <a:prstGeom prst="ellipse">
              <a:avLst/>
            </a:prstGeom>
            <a:solidFill>
              <a:srgbClr val="CF89BB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C722EBE-E3CC-13E9-5150-6B175AEB8465}"/>
                </a:ext>
              </a:extLst>
            </p:cNvPr>
            <p:cNvSpPr/>
            <p:nvPr/>
          </p:nvSpPr>
          <p:spPr>
            <a:xfrm>
              <a:off x="8805433" y="2067354"/>
              <a:ext cx="228600" cy="228600"/>
            </a:xfrm>
            <a:prstGeom prst="ellipse">
              <a:avLst/>
            </a:prstGeom>
            <a:solidFill>
              <a:srgbClr val="CF89BB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1E88AB9-5907-2D5D-ACE0-DA2A9AC10115}"/>
                </a:ext>
              </a:extLst>
            </p:cNvPr>
            <p:cNvSpPr/>
            <p:nvPr/>
          </p:nvSpPr>
          <p:spPr>
            <a:xfrm>
              <a:off x="9081299" y="2199935"/>
              <a:ext cx="228600" cy="228600"/>
            </a:xfrm>
            <a:prstGeom prst="ellipse">
              <a:avLst/>
            </a:prstGeom>
            <a:solidFill>
              <a:srgbClr val="CF89BB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569CAFB-E761-1DFE-1EFB-9E934B8EE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96064" y="2438468"/>
              <a:ext cx="0" cy="365760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E465256-9FF0-F51A-3650-EA147566BC71}"/>
                </a:ext>
              </a:extLst>
            </p:cNvPr>
            <p:cNvSpPr txBox="1"/>
            <p:nvPr/>
          </p:nvSpPr>
          <p:spPr>
            <a:xfrm>
              <a:off x="8615604" y="3586075"/>
              <a:ext cx="1062947" cy="147732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Sediments as a P sink: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SRP in the overlying water is greater than capacity of the sediment to sorb loosely-bound P, </a:t>
              </a:r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adsorption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favored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3338881-6B4E-10F2-64BF-078FB0221882}"/>
                </a:ext>
              </a:extLst>
            </p:cNvPr>
            <p:cNvSpPr/>
            <p:nvPr/>
          </p:nvSpPr>
          <p:spPr>
            <a:xfrm>
              <a:off x="8568799" y="1471069"/>
              <a:ext cx="1082045" cy="36622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SRP in overlying water: 50 µg L</a:t>
              </a:r>
              <a:r>
                <a:rPr lang="en-US" sz="9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FE6496FF-A3D1-2368-32A3-4F29176A6B35}"/>
                </a:ext>
              </a:extLst>
            </p:cNvPr>
            <p:cNvSpPr/>
            <p:nvPr/>
          </p:nvSpPr>
          <p:spPr>
            <a:xfrm>
              <a:off x="8675127" y="3231251"/>
              <a:ext cx="866023" cy="203155"/>
            </a:xfrm>
            <a:prstGeom prst="round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EPC = 30 µg L</a:t>
              </a:r>
              <a:r>
                <a:rPr lang="en-US" sz="900" baseline="30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  <a:r>
                <a:rPr lang="en-US" sz="9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7307DA3-8447-362A-36FB-EBFED069BF64}"/>
              </a:ext>
            </a:extLst>
          </p:cNvPr>
          <p:cNvGrpSpPr/>
          <p:nvPr/>
        </p:nvGrpSpPr>
        <p:grpSpPr>
          <a:xfrm>
            <a:off x="9640508" y="1471069"/>
            <a:ext cx="1169359" cy="3425803"/>
            <a:chOff x="9777668" y="1471069"/>
            <a:chExt cx="1169359" cy="3425803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49D9B92-E945-C16E-0F6C-57323514E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l="4016" t="1034" r="16794" b="7900"/>
            <a:stretch/>
          </p:blipFill>
          <p:spPr>
            <a:xfrm>
              <a:off x="9848897" y="1766670"/>
              <a:ext cx="1062133" cy="1754409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1EE0715-7D47-4DA7-B0CA-5E504385B0F2}"/>
                </a:ext>
              </a:extLst>
            </p:cNvPr>
            <p:cNvSpPr/>
            <p:nvPr/>
          </p:nvSpPr>
          <p:spPr>
            <a:xfrm>
              <a:off x="10035874" y="2790703"/>
              <a:ext cx="228600" cy="228600"/>
            </a:xfrm>
            <a:prstGeom prst="ellipse">
              <a:avLst/>
            </a:prstGeom>
            <a:solidFill>
              <a:srgbClr val="CF89BB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C031060-E35E-CBAC-B80D-84862E3C4B57}"/>
                </a:ext>
              </a:extLst>
            </p:cNvPr>
            <p:cNvSpPr/>
            <p:nvPr/>
          </p:nvSpPr>
          <p:spPr>
            <a:xfrm>
              <a:off x="10404133" y="2805466"/>
              <a:ext cx="228600" cy="228600"/>
            </a:xfrm>
            <a:prstGeom prst="ellipse">
              <a:avLst/>
            </a:prstGeom>
            <a:solidFill>
              <a:srgbClr val="CF89BB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681309B-7558-73F8-E497-258327D7D91E}"/>
                </a:ext>
              </a:extLst>
            </p:cNvPr>
            <p:cNvSpPr/>
            <p:nvPr/>
          </p:nvSpPr>
          <p:spPr>
            <a:xfrm>
              <a:off x="10214795" y="2066557"/>
              <a:ext cx="228600" cy="228600"/>
            </a:xfrm>
            <a:prstGeom prst="ellipse">
              <a:avLst/>
            </a:prstGeom>
            <a:solidFill>
              <a:srgbClr val="CF89BB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165D612-0A0E-7F85-ABDE-F3B674477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29095" y="2414275"/>
              <a:ext cx="0" cy="365760"/>
            </a:xfrm>
            <a:prstGeom prst="straightConnector1">
              <a:avLst/>
            </a:prstGeom>
            <a:ln w="19050">
              <a:headEnd type="non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DFAD3F3-FD8E-4232-DB10-AF4467B7E5A5}"/>
                </a:ext>
              </a:extLst>
            </p:cNvPr>
            <p:cNvSpPr txBox="1"/>
            <p:nvPr/>
          </p:nvSpPr>
          <p:spPr>
            <a:xfrm>
              <a:off x="9777668" y="3573433"/>
              <a:ext cx="1169359" cy="132343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Sediments as a P source: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SRP in the overlying water is less than the capacity of the sediments to sorb loosely-bound P, </a:t>
              </a:r>
              <a:r>
                <a:rPr lang="en-US" sz="1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desportion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favored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063DD06-6074-63C0-AAAD-1BAFE87487DC}"/>
                </a:ext>
              </a:extLst>
            </p:cNvPr>
            <p:cNvSpPr/>
            <p:nvPr/>
          </p:nvSpPr>
          <p:spPr>
            <a:xfrm>
              <a:off x="9836538" y="1471069"/>
              <a:ext cx="1082045" cy="36622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SRP in overlying water: 10 µg L</a:t>
              </a:r>
              <a:r>
                <a:rPr lang="en-US" sz="9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559FE40A-07FC-65A9-A1AF-A2A6B23BFC0A}"/>
                </a:ext>
              </a:extLst>
            </p:cNvPr>
            <p:cNvSpPr/>
            <p:nvPr/>
          </p:nvSpPr>
          <p:spPr>
            <a:xfrm>
              <a:off x="9946951" y="3212963"/>
              <a:ext cx="866023" cy="203155"/>
            </a:xfrm>
            <a:prstGeom prst="round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EPC = 30 µg L</a:t>
              </a:r>
              <a:r>
                <a:rPr lang="en-US" sz="900" baseline="30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  <a:r>
                <a:rPr lang="en-US" sz="9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C4BA848D-669E-A819-7ECB-F915C9241A0E}"/>
              </a:ext>
            </a:extLst>
          </p:cNvPr>
          <p:cNvSpPr txBox="1"/>
          <p:nvPr/>
        </p:nvSpPr>
        <p:spPr>
          <a:xfrm>
            <a:off x="10898700" y="3633480"/>
            <a:ext cx="1060704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45720" rIns="45720" rtlCol="0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Increasing EPC means the sediment is more likely to become a </a:t>
            </a: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of SRP or a larger </a:t>
            </a: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of SRP to the overlying water</a:t>
            </a:r>
          </a:p>
        </p:txBody>
      </p:sp>
      <p:sp>
        <p:nvSpPr>
          <p:cNvPr id="85" name="Flowchart: Off-page Connector 84">
            <a:extLst>
              <a:ext uri="{FF2B5EF4-FFF2-40B4-BE49-F238E27FC236}">
                <a16:creationId xmlns:a16="http://schemas.microsoft.com/office/drawing/2014/main" id="{5D0A6CF6-EFF2-600C-1B06-DA233B442613}"/>
              </a:ext>
            </a:extLst>
          </p:cNvPr>
          <p:cNvSpPr/>
          <p:nvPr/>
        </p:nvSpPr>
        <p:spPr>
          <a:xfrm>
            <a:off x="692183" y="2576051"/>
            <a:ext cx="304800" cy="640080"/>
          </a:xfrm>
          <a:prstGeom prst="flowChartOffpageConnector">
            <a:avLst/>
          </a:prstGeom>
          <a:gradFill flip="none" rotWithShape="1"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86" name="Flowchart: Magnetic Disk 85">
            <a:extLst>
              <a:ext uri="{FF2B5EF4-FFF2-40B4-BE49-F238E27FC236}">
                <a16:creationId xmlns:a16="http://schemas.microsoft.com/office/drawing/2014/main" id="{26AC922C-F439-243D-82F8-8ABDC03ED7BF}"/>
              </a:ext>
            </a:extLst>
          </p:cNvPr>
          <p:cNvSpPr/>
          <p:nvPr/>
        </p:nvSpPr>
        <p:spPr>
          <a:xfrm>
            <a:off x="646556" y="2417380"/>
            <a:ext cx="384048" cy="183111"/>
          </a:xfrm>
          <a:prstGeom prst="flowChartMagneticDisk">
            <a:avLst/>
          </a:prstGeom>
          <a:solidFill>
            <a:srgbClr val="CF89B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Flowchart: Off-page Connector 86">
            <a:extLst>
              <a:ext uri="{FF2B5EF4-FFF2-40B4-BE49-F238E27FC236}">
                <a16:creationId xmlns:a16="http://schemas.microsoft.com/office/drawing/2014/main" id="{0ABA5F96-39DF-8BA0-1B32-B8E8A27A8DD3}"/>
              </a:ext>
            </a:extLst>
          </p:cNvPr>
          <p:cNvSpPr/>
          <p:nvPr/>
        </p:nvSpPr>
        <p:spPr>
          <a:xfrm>
            <a:off x="1137860" y="2576051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88" name="Flowchart: Magnetic Disk 87">
            <a:extLst>
              <a:ext uri="{FF2B5EF4-FFF2-40B4-BE49-F238E27FC236}">
                <a16:creationId xmlns:a16="http://schemas.microsoft.com/office/drawing/2014/main" id="{3A31CECF-F2E9-6652-4BB1-F046F6DF1254}"/>
              </a:ext>
            </a:extLst>
          </p:cNvPr>
          <p:cNvSpPr/>
          <p:nvPr/>
        </p:nvSpPr>
        <p:spPr>
          <a:xfrm>
            <a:off x="1092233" y="2417380"/>
            <a:ext cx="384048" cy="183111"/>
          </a:xfrm>
          <a:prstGeom prst="flowChartMagneticDisk">
            <a:avLst/>
          </a:prstGeom>
          <a:solidFill>
            <a:srgbClr val="CF89B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Flowchart: Off-page Connector 88">
            <a:extLst>
              <a:ext uri="{FF2B5EF4-FFF2-40B4-BE49-F238E27FC236}">
                <a16:creationId xmlns:a16="http://schemas.microsoft.com/office/drawing/2014/main" id="{694AC5D3-69FE-0CAB-E356-10021EEAE1FB}"/>
              </a:ext>
            </a:extLst>
          </p:cNvPr>
          <p:cNvSpPr/>
          <p:nvPr/>
        </p:nvSpPr>
        <p:spPr>
          <a:xfrm>
            <a:off x="1584918" y="2576051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90" name="Flowchart: Magnetic Disk 89">
            <a:extLst>
              <a:ext uri="{FF2B5EF4-FFF2-40B4-BE49-F238E27FC236}">
                <a16:creationId xmlns:a16="http://schemas.microsoft.com/office/drawing/2014/main" id="{01B2846D-0615-F16A-06DF-142612F54D57}"/>
              </a:ext>
            </a:extLst>
          </p:cNvPr>
          <p:cNvSpPr/>
          <p:nvPr/>
        </p:nvSpPr>
        <p:spPr>
          <a:xfrm>
            <a:off x="1539291" y="2417380"/>
            <a:ext cx="384048" cy="183111"/>
          </a:xfrm>
          <a:prstGeom prst="flowChartMagneticDisk">
            <a:avLst/>
          </a:prstGeom>
          <a:solidFill>
            <a:srgbClr val="CF89B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Flowchart: Off-page Connector 90">
            <a:extLst>
              <a:ext uri="{FF2B5EF4-FFF2-40B4-BE49-F238E27FC236}">
                <a16:creationId xmlns:a16="http://schemas.microsoft.com/office/drawing/2014/main" id="{DD21A8F3-BF5A-4751-76D3-37181790F336}"/>
              </a:ext>
            </a:extLst>
          </p:cNvPr>
          <p:cNvSpPr/>
          <p:nvPr/>
        </p:nvSpPr>
        <p:spPr>
          <a:xfrm>
            <a:off x="2043847" y="2580546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92" name="Flowchart: Magnetic Disk 91">
            <a:extLst>
              <a:ext uri="{FF2B5EF4-FFF2-40B4-BE49-F238E27FC236}">
                <a16:creationId xmlns:a16="http://schemas.microsoft.com/office/drawing/2014/main" id="{2BF7D2D1-F540-1AEA-F81A-5F8A5744F32B}"/>
              </a:ext>
            </a:extLst>
          </p:cNvPr>
          <p:cNvSpPr/>
          <p:nvPr/>
        </p:nvSpPr>
        <p:spPr>
          <a:xfrm>
            <a:off x="1998220" y="2421875"/>
            <a:ext cx="384048" cy="183111"/>
          </a:xfrm>
          <a:prstGeom prst="flowChartMagneticDisk">
            <a:avLst/>
          </a:prstGeom>
          <a:solidFill>
            <a:srgbClr val="CF89B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Flowchart: Off-page Connector 92">
            <a:extLst>
              <a:ext uri="{FF2B5EF4-FFF2-40B4-BE49-F238E27FC236}">
                <a16:creationId xmlns:a16="http://schemas.microsoft.com/office/drawing/2014/main" id="{81B91567-5947-89BD-2BC8-EE3BBF73F9A9}"/>
              </a:ext>
            </a:extLst>
          </p:cNvPr>
          <p:cNvSpPr/>
          <p:nvPr/>
        </p:nvSpPr>
        <p:spPr>
          <a:xfrm>
            <a:off x="2492056" y="2576051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94" name="Flowchart: Magnetic Disk 93">
            <a:extLst>
              <a:ext uri="{FF2B5EF4-FFF2-40B4-BE49-F238E27FC236}">
                <a16:creationId xmlns:a16="http://schemas.microsoft.com/office/drawing/2014/main" id="{4158A2B7-9F4D-5F08-1E60-2B6DA85AE310}"/>
              </a:ext>
            </a:extLst>
          </p:cNvPr>
          <p:cNvSpPr/>
          <p:nvPr/>
        </p:nvSpPr>
        <p:spPr>
          <a:xfrm>
            <a:off x="2446429" y="2417380"/>
            <a:ext cx="384048" cy="183111"/>
          </a:xfrm>
          <a:prstGeom prst="flowChartMagneticDisk">
            <a:avLst/>
          </a:prstGeom>
          <a:solidFill>
            <a:srgbClr val="CF89B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Flowchart: Off-page Connector 94">
            <a:extLst>
              <a:ext uri="{FF2B5EF4-FFF2-40B4-BE49-F238E27FC236}">
                <a16:creationId xmlns:a16="http://schemas.microsoft.com/office/drawing/2014/main" id="{443FF72E-EC76-1ADD-B9D3-913339F0B4AD}"/>
              </a:ext>
            </a:extLst>
          </p:cNvPr>
          <p:cNvSpPr/>
          <p:nvPr/>
        </p:nvSpPr>
        <p:spPr>
          <a:xfrm>
            <a:off x="2939839" y="2580546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96" name="Flowchart: Magnetic Disk 95">
            <a:extLst>
              <a:ext uri="{FF2B5EF4-FFF2-40B4-BE49-F238E27FC236}">
                <a16:creationId xmlns:a16="http://schemas.microsoft.com/office/drawing/2014/main" id="{4D2AB782-4BD2-3705-B520-988A2DE8F0EE}"/>
              </a:ext>
            </a:extLst>
          </p:cNvPr>
          <p:cNvSpPr/>
          <p:nvPr/>
        </p:nvSpPr>
        <p:spPr>
          <a:xfrm>
            <a:off x="2894212" y="2421875"/>
            <a:ext cx="384048" cy="183111"/>
          </a:xfrm>
          <a:prstGeom prst="flowChartMagneticDisk">
            <a:avLst/>
          </a:prstGeom>
          <a:solidFill>
            <a:srgbClr val="CF89B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Flowchart: Off-page Connector 96">
            <a:extLst>
              <a:ext uri="{FF2B5EF4-FFF2-40B4-BE49-F238E27FC236}">
                <a16:creationId xmlns:a16="http://schemas.microsoft.com/office/drawing/2014/main" id="{652C4526-A54C-35A4-4C86-91E1FF89F056}"/>
              </a:ext>
            </a:extLst>
          </p:cNvPr>
          <p:cNvSpPr/>
          <p:nvPr/>
        </p:nvSpPr>
        <p:spPr>
          <a:xfrm>
            <a:off x="708642" y="3466150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98" name="Flowchart: Magnetic Disk 97">
            <a:extLst>
              <a:ext uri="{FF2B5EF4-FFF2-40B4-BE49-F238E27FC236}">
                <a16:creationId xmlns:a16="http://schemas.microsoft.com/office/drawing/2014/main" id="{9DE3E338-15EF-CCCE-D150-716E9CB6B843}"/>
              </a:ext>
            </a:extLst>
          </p:cNvPr>
          <p:cNvSpPr/>
          <p:nvPr/>
        </p:nvSpPr>
        <p:spPr>
          <a:xfrm>
            <a:off x="663015" y="3307479"/>
            <a:ext cx="384048" cy="183111"/>
          </a:xfrm>
          <a:prstGeom prst="flowChartMagneticDisk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Flowchart: Off-page Connector 98">
            <a:extLst>
              <a:ext uri="{FF2B5EF4-FFF2-40B4-BE49-F238E27FC236}">
                <a16:creationId xmlns:a16="http://schemas.microsoft.com/office/drawing/2014/main" id="{511BC19E-C161-9775-7A34-DE796F9DA26F}"/>
              </a:ext>
            </a:extLst>
          </p:cNvPr>
          <p:cNvSpPr/>
          <p:nvPr/>
        </p:nvSpPr>
        <p:spPr>
          <a:xfrm>
            <a:off x="1154319" y="3466150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100" name="Flowchart: Magnetic Disk 99">
            <a:extLst>
              <a:ext uri="{FF2B5EF4-FFF2-40B4-BE49-F238E27FC236}">
                <a16:creationId xmlns:a16="http://schemas.microsoft.com/office/drawing/2014/main" id="{451B6732-8B98-97A4-5FDF-12AD498FF5A6}"/>
              </a:ext>
            </a:extLst>
          </p:cNvPr>
          <p:cNvSpPr/>
          <p:nvPr/>
        </p:nvSpPr>
        <p:spPr>
          <a:xfrm>
            <a:off x="1108692" y="3307479"/>
            <a:ext cx="384048" cy="183111"/>
          </a:xfrm>
          <a:prstGeom prst="flowChartMagneticDisk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Flowchart: Off-page Connector 100">
            <a:extLst>
              <a:ext uri="{FF2B5EF4-FFF2-40B4-BE49-F238E27FC236}">
                <a16:creationId xmlns:a16="http://schemas.microsoft.com/office/drawing/2014/main" id="{E87F0C90-A206-7BE8-55F8-DD88FEE77804}"/>
              </a:ext>
            </a:extLst>
          </p:cNvPr>
          <p:cNvSpPr/>
          <p:nvPr/>
        </p:nvSpPr>
        <p:spPr>
          <a:xfrm>
            <a:off x="1601377" y="3466150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102" name="Flowchart: Magnetic Disk 101">
            <a:extLst>
              <a:ext uri="{FF2B5EF4-FFF2-40B4-BE49-F238E27FC236}">
                <a16:creationId xmlns:a16="http://schemas.microsoft.com/office/drawing/2014/main" id="{12239EF0-3346-FF08-2853-E796B1113E52}"/>
              </a:ext>
            </a:extLst>
          </p:cNvPr>
          <p:cNvSpPr/>
          <p:nvPr/>
        </p:nvSpPr>
        <p:spPr>
          <a:xfrm>
            <a:off x="1555750" y="3307479"/>
            <a:ext cx="384048" cy="183111"/>
          </a:xfrm>
          <a:prstGeom prst="flowChartMagneticDisk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Flowchart: Off-page Connector 102">
            <a:extLst>
              <a:ext uri="{FF2B5EF4-FFF2-40B4-BE49-F238E27FC236}">
                <a16:creationId xmlns:a16="http://schemas.microsoft.com/office/drawing/2014/main" id="{C3C353B8-71F4-DFCE-B8AE-7FCC1BF722B3}"/>
              </a:ext>
            </a:extLst>
          </p:cNvPr>
          <p:cNvSpPr/>
          <p:nvPr/>
        </p:nvSpPr>
        <p:spPr>
          <a:xfrm>
            <a:off x="2060306" y="3470645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104" name="Flowchart: Magnetic Disk 103">
            <a:extLst>
              <a:ext uri="{FF2B5EF4-FFF2-40B4-BE49-F238E27FC236}">
                <a16:creationId xmlns:a16="http://schemas.microsoft.com/office/drawing/2014/main" id="{9A51E74E-E89B-011B-AD5B-FB632D21E581}"/>
              </a:ext>
            </a:extLst>
          </p:cNvPr>
          <p:cNvSpPr/>
          <p:nvPr/>
        </p:nvSpPr>
        <p:spPr>
          <a:xfrm>
            <a:off x="2014679" y="3311974"/>
            <a:ext cx="384048" cy="183111"/>
          </a:xfrm>
          <a:prstGeom prst="flowChartMagneticDisk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Flowchart: Off-page Connector 104">
            <a:extLst>
              <a:ext uri="{FF2B5EF4-FFF2-40B4-BE49-F238E27FC236}">
                <a16:creationId xmlns:a16="http://schemas.microsoft.com/office/drawing/2014/main" id="{3B989A17-A955-F3C4-2ED9-9C2FD1A29FD3}"/>
              </a:ext>
            </a:extLst>
          </p:cNvPr>
          <p:cNvSpPr/>
          <p:nvPr/>
        </p:nvSpPr>
        <p:spPr>
          <a:xfrm>
            <a:off x="2508515" y="3466150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106" name="Flowchart: Magnetic Disk 105">
            <a:extLst>
              <a:ext uri="{FF2B5EF4-FFF2-40B4-BE49-F238E27FC236}">
                <a16:creationId xmlns:a16="http://schemas.microsoft.com/office/drawing/2014/main" id="{DBADA4E7-DF77-E386-3357-13B341751BB0}"/>
              </a:ext>
            </a:extLst>
          </p:cNvPr>
          <p:cNvSpPr/>
          <p:nvPr/>
        </p:nvSpPr>
        <p:spPr>
          <a:xfrm>
            <a:off x="2462888" y="3307479"/>
            <a:ext cx="384048" cy="183111"/>
          </a:xfrm>
          <a:prstGeom prst="flowChartMagneticDisk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Flowchart: Off-page Connector 106">
            <a:extLst>
              <a:ext uri="{FF2B5EF4-FFF2-40B4-BE49-F238E27FC236}">
                <a16:creationId xmlns:a16="http://schemas.microsoft.com/office/drawing/2014/main" id="{70F387B6-BB68-C043-26BB-258A9416D096}"/>
              </a:ext>
            </a:extLst>
          </p:cNvPr>
          <p:cNvSpPr/>
          <p:nvPr/>
        </p:nvSpPr>
        <p:spPr>
          <a:xfrm>
            <a:off x="2956298" y="3470645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108" name="Flowchart: Magnetic Disk 107">
            <a:extLst>
              <a:ext uri="{FF2B5EF4-FFF2-40B4-BE49-F238E27FC236}">
                <a16:creationId xmlns:a16="http://schemas.microsoft.com/office/drawing/2014/main" id="{AE216103-BCF7-901B-737C-60B797071BBB}"/>
              </a:ext>
            </a:extLst>
          </p:cNvPr>
          <p:cNvSpPr/>
          <p:nvPr/>
        </p:nvSpPr>
        <p:spPr>
          <a:xfrm>
            <a:off x="2910671" y="3311974"/>
            <a:ext cx="384048" cy="183111"/>
          </a:xfrm>
          <a:prstGeom prst="flowChartMagneticDisk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6F2B75D-8E29-18F9-072F-DF1DD28A5D02}"/>
              </a:ext>
            </a:extLst>
          </p:cNvPr>
          <p:cNvSpPr txBox="1"/>
          <p:nvPr/>
        </p:nvSpPr>
        <p:spPr>
          <a:xfrm>
            <a:off x="82837" y="1163686"/>
            <a:ext cx="2686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Chloride &amp; P Treatments</a:t>
            </a:r>
          </a:p>
        </p:txBody>
      </p:sp>
      <p:sp>
        <p:nvSpPr>
          <p:cNvPr id="2" name="Flowchart: Off-page Connector 1">
            <a:extLst>
              <a:ext uri="{FF2B5EF4-FFF2-40B4-BE49-F238E27FC236}">
                <a16:creationId xmlns:a16="http://schemas.microsoft.com/office/drawing/2014/main" id="{5AC63AB1-4410-DABB-FCD6-ABDF11853B24}"/>
              </a:ext>
            </a:extLst>
          </p:cNvPr>
          <p:cNvSpPr/>
          <p:nvPr/>
        </p:nvSpPr>
        <p:spPr>
          <a:xfrm>
            <a:off x="699906" y="4358517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3" name="Flowchart: Magnetic Disk 2">
            <a:extLst>
              <a:ext uri="{FF2B5EF4-FFF2-40B4-BE49-F238E27FC236}">
                <a16:creationId xmlns:a16="http://schemas.microsoft.com/office/drawing/2014/main" id="{6CADFEF9-659E-0060-9CCD-1BCEB5E83C54}"/>
              </a:ext>
            </a:extLst>
          </p:cNvPr>
          <p:cNvSpPr/>
          <p:nvPr/>
        </p:nvSpPr>
        <p:spPr>
          <a:xfrm>
            <a:off x="654279" y="4199846"/>
            <a:ext cx="384048" cy="183111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5C62450F-E326-BF06-D1D8-06ACEA5E24CE}"/>
              </a:ext>
            </a:extLst>
          </p:cNvPr>
          <p:cNvSpPr/>
          <p:nvPr/>
        </p:nvSpPr>
        <p:spPr>
          <a:xfrm>
            <a:off x="1145583" y="4358517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B11CCD59-9E23-31D2-A232-33CFA5582DCA}"/>
              </a:ext>
            </a:extLst>
          </p:cNvPr>
          <p:cNvSpPr/>
          <p:nvPr/>
        </p:nvSpPr>
        <p:spPr>
          <a:xfrm>
            <a:off x="1099956" y="4199846"/>
            <a:ext cx="384048" cy="183111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6E7C7656-8FE3-D4D4-5840-EE6B056E62A0}"/>
              </a:ext>
            </a:extLst>
          </p:cNvPr>
          <p:cNvSpPr/>
          <p:nvPr/>
        </p:nvSpPr>
        <p:spPr>
          <a:xfrm>
            <a:off x="1592641" y="4358517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C6F9DA1A-BC16-946B-E819-BE23CBB552B8}"/>
              </a:ext>
            </a:extLst>
          </p:cNvPr>
          <p:cNvSpPr/>
          <p:nvPr/>
        </p:nvSpPr>
        <p:spPr>
          <a:xfrm>
            <a:off x="1547014" y="4199846"/>
            <a:ext cx="384048" cy="183111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F6FC0141-AF99-B0D2-FA16-7937BA73AF7D}"/>
              </a:ext>
            </a:extLst>
          </p:cNvPr>
          <p:cNvSpPr/>
          <p:nvPr/>
        </p:nvSpPr>
        <p:spPr>
          <a:xfrm>
            <a:off x="2051570" y="4363012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11" name="Flowchart: Magnetic Disk 10">
            <a:extLst>
              <a:ext uri="{FF2B5EF4-FFF2-40B4-BE49-F238E27FC236}">
                <a16:creationId xmlns:a16="http://schemas.microsoft.com/office/drawing/2014/main" id="{0C9BFA4A-C490-EA5F-DD6F-52D7EAAFEF22}"/>
              </a:ext>
            </a:extLst>
          </p:cNvPr>
          <p:cNvSpPr/>
          <p:nvPr/>
        </p:nvSpPr>
        <p:spPr>
          <a:xfrm>
            <a:off x="2005943" y="4204341"/>
            <a:ext cx="384048" cy="183111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lowchart: Off-page Connector 11">
            <a:extLst>
              <a:ext uri="{FF2B5EF4-FFF2-40B4-BE49-F238E27FC236}">
                <a16:creationId xmlns:a16="http://schemas.microsoft.com/office/drawing/2014/main" id="{8B91263F-A383-CC5D-C1AE-BD7C5CE51CF4}"/>
              </a:ext>
            </a:extLst>
          </p:cNvPr>
          <p:cNvSpPr/>
          <p:nvPr/>
        </p:nvSpPr>
        <p:spPr>
          <a:xfrm>
            <a:off x="2499779" y="4358517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97ED5BA2-FF0D-4AB3-71AC-B59228D31F73}"/>
              </a:ext>
            </a:extLst>
          </p:cNvPr>
          <p:cNvSpPr/>
          <p:nvPr/>
        </p:nvSpPr>
        <p:spPr>
          <a:xfrm>
            <a:off x="2454152" y="4199846"/>
            <a:ext cx="384048" cy="183111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owchart: Off-page Connector 13">
            <a:extLst>
              <a:ext uri="{FF2B5EF4-FFF2-40B4-BE49-F238E27FC236}">
                <a16:creationId xmlns:a16="http://schemas.microsoft.com/office/drawing/2014/main" id="{292FD280-4214-E476-6299-A87BFF711D93}"/>
              </a:ext>
            </a:extLst>
          </p:cNvPr>
          <p:cNvSpPr/>
          <p:nvPr/>
        </p:nvSpPr>
        <p:spPr>
          <a:xfrm>
            <a:off x="2947562" y="4363012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07FA03A4-3408-2F64-749E-78D4C4D0C395}"/>
              </a:ext>
            </a:extLst>
          </p:cNvPr>
          <p:cNvSpPr/>
          <p:nvPr/>
        </p:nvSpPr>
        <p:spPr>
          <a:xfrm>
            <a:off x="2901935" y="4204341"/>
            <a:ext cx="384048" cy="183111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FAB741-0D7D-5B02-1402-341B3A49C4A1}"/>
              </a:ext>
            </a:extLst>
          </p:cNvPr>
          <p:cNvSpPr txBox="1"/>
          <p:nvPr/>
        </p:nvSpPr>
        <p:spPr>
          <a:xfrm>
            <a:off x="534" y="4168830"/>
            <a:ext cx="663274" cy="400110"/>
          </a:xfrm>
          <a:prstGeom prst="rect">
            <a:avLst/>
          </a:prstGeom>
          <a:noFill/>
        </p:spPr>
        <p:txBody>
          <a:bodyPr wrap="square" lIns="0" rIns="91440" rtlCol="0">
            <a:spAutoFit/>
          </a:bodyPr>
          <a:lstStyle/>
          <a:p>
            <a:pPr algn="r"/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500 mg/L chloride</a:t>
            </a:r>
          </a:p>
        </p:txBody>
      </p:sp>
      <p:sp>
        <p:nvSpPr>
          <p:cNvPr id="17" name="Flowchart: Off-page Connector 16">
            <a:extLst>
              <a:ext uri="{FF2B5EF4-FFF2-40B4-BE49-F238E27FC236}">
                <a16:creationId xmlns:a16="http://schemas.microsoft.com/office/drawing/2014/main" id="{6BB87D46-8CB0-EA61-CDF8-49EFD3FC52EE}"/>
              </a:ext>
            </a:extLst>
          </p:cNvPr>
          <p:cNvSpPr/>
          <p:nvPr/>
        </p:nvSpPr>
        <p:spPr>
          <a:xfrm>
            <a:off x="688539" y="1721589"/>
            <a:ext cx="304800" cy="640080"/>
          </a:xfrm>
          <a:prstGeom prst="flowChartOffpageConnector">
            <a:avLst/>
          </a:prstGeom>
          <a:gradFill flip="none" rotWithShape="1"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18" name="Flowchart: Magnetic Disk 17">
            <a:extLst>
              <a:ext uri="{FF2B5EF4-FFF2-40B4-BE49-F238E27FC236}">
                <a16:creationId xmlns:a16="http://schemas.microsoft.com/office/drawing/2014/main" id="{EBA0830A-61C2-424E-5EEE-57960A307AA7}"/>
              </a:ext>
            </a:extLst>
          </p:cNvPr>
          <p:cNvSpPr/>
          <p:nvPr/>
        </p:nvSpPr>
        <p:spPr>
          <a:xfrm>
            <a:off x="642912" y="1562918"/>
            <a:ext cx="384048" cy="183111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lowchart: Off-page Connector 18">
            <a:extLst>
              <a:ext uri="{FF2B5EF4-FFF2-40B4-BE49-F238E27FC236}">
                <a16:creationId xmlns:a16="http://schemas.microsoft.com/office/drawing/2014/main" id="{6A0FA88D-A63C-40B1-545E-E6E886326E1F}"/>
              </a:ext>
            </a:extLst>
          </p:cNvPr>
          <p:cNvSpPr/>
          <p:nvPr/>
        </p:nvSpPr>
        <p:spPr>
          <a:xfrm>
            <a:off x="1134216" y="1721589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20" name="Flowchart: Magnetic Disk 19">
            <a:extLst>
              <a:ext uri="{FF2B5EF4-FFF2-40B4-BE49-F238E27FC236}">
                <a16:creationId xmlns:a16="http://schemas.microsoft.com/office/drawing/2014/main" id="{AEB74E75-E79B-5511-6572-466A63F3DB5D}"/>
              </a:ext>
            </a:extLst>
          </p:cNvPr>
          <p:cNvSpPr/>
          <p:nvPr/>
        </p:nvSpPr>
        <p:spPr>
          <a:xfrm>
            <a:off x="1088589" y="1562918"/>
            <a:ext cx="384048" cy="183111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0A7E8812-27AB-332C-BB08-25851B07B55F}"/>
              </a:ext>
            </a:extLst>
          </p:cNvPr>
          <p:cNvSpPr/>
          <p:nvPr/>
        </p:nvSpPr>
        <p:spPr>
          <a:xfrm>
            <a:off x="1581274" y="1721589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22" name="Flowchart: Magnetic Disk 21">
            <a:extLst>
              <a:ext uri="{FF2B5EF4-FFF2-40B4-BE49-F238E27FC236}">
                <a16:creationId xmlns:a16="http://schemas.microsoft.com/office/drawing/2014/main" id="{BFE4EDD2-507C-CDBC-0054-22FC7E644C78}"/>
              </a:ext>
            </a:extLst>
          </p:cNvPr>
          <p:cNvSpPr/>
          <p:nvPr/>
        </p:nvSpPr>
        <p:spPr>
          <a:xfrm>
            <a:off x="1535647" y="1562918"/>
            <a:ext cx="384048" cy="183111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lowchart: Off-page Connector 22">
            <a:extLst>
              <a:ext uri="{FF2B5EF4-FFF2-40B4-BE49-F238E27FC236}">
                <a16:creationId xmlns:a16="http://schemas.microsoft.com/office/drawing/2014/main" id="{3AD25349-688B-FAE8-75F8-C2D9B1BA4DD7}"/>
              </a:ext>
            </a:extLst>
          </p:cNvPr>
          <p:cNvSpPr/>
          <p:nvPr/>
        </p:nvSpPr>
        <p:spPr>
          <a:xfrm>
            <a:off x="2040203" y="1726084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3A757FD2-98F5-5556-78D3-BBD5F504306E}"/>
              </a:ext>
            </a:extLst>
          </p:cNvPr>
          <p:cNvSpPr/>
          <p:nvPr/>
        </p:nvSpPr>
        <p:spPr>
          <a:xfrm>
            <a:off x="1994576" y="1567413"/>
            <a:ext cx="384048" cy="183111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lowchart: Off-page Connector 24">
            <a:extLst>
              <a:ext uri="{FF2B5EF4-FFF2-40B4-BE49-F238E27FC236}">
                <a16:creationId xmlns:a16="http://schemas.microsoft.com/office/drawing/2014/main" id="{AA428106-A6F7-81C1-3754-7D6D5175F8E0}"/>
              </a:ext>
            </a:extLst>
          </p:cNvPr>
          <p:cNvSpPr/>
          <p:nvPr/>
        </p:nvSpPr>
        <p:spPr>
          <a:xfrm>
            <a:off x="2488412" y="1721589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27" name="Flowchart: Magnetic Disk 26">
            <a:extLst>
              <a:ext uri="{FF2B5EF4-FFF2-40B4-BE49-F238E27FC236}">
                <a16:creationId xmlns:a16="http://schemas.microsoft.com/office/drawing/2014/main" id="{BF2EEB05-6A56-A158-F295-647C091DD4DD}"/>
              </a:ext>
            </a:extLst>
          </p:cNvPr>
          <p:cNvSpPr/>
          <p:nvPr/>
        </p:nvSpPr>
        <p:spPr>
          <a:xfrm>
            <a:off x="2442785" y="1562918"/>
            <a:ext cx="384048" cy="183111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lowchart: Off-page Connector 27">
            <a:extLst>
              <a:ext uri="{FF2B5EF4-FFF2-40B4-BE49-F238E27FC236}">
                <a16:creationId xmlns:a16="http://schemas.microsoft.com/office/drawing/2014/main" id="{AA5269B9-8DF3-7260-E4E1-182DE33539A1}"/>
              </a:ext>
            </a:extLst>
          </p:cNvPr>
          <p:cNvSpPr/>
          <p:nvPr/>
        </p:nvSpPr>
        <p:spPr>
          <a:xfrm>
            <a:off x="2936195" y="1726084"/>
            <a:ext cx="304800" cy="640080"/>
          </a:xfrm>
          <a:prstGeom prst="flowChartOffpageConnector">
            <a:avLst/>
          </a:prstGeom>
          <a:gradFill>
            <a:gsLst>
              <a:gs pos="0">
                <a:srgbClr val="537C95"/>
              </a:gs>
              <a:gs pos="100000">
                <a:srgbClr val="DFE3E7"/>
              </a:gs>
            </a:gsLst>
            <a:lin ang="162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 µg/L </a:t>
            </a:r>
            <a:b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added</a:t>
            </a:r>
          </a:p>
        </p:txBody>
      </p:sp>
      <p:sp>
        <p:nvSpPr>
          <p:cNvPr id="31" name="Flowchart: Magnetic Disk 30">
            <a:extLst>
              <a:ext uri="{FF2B5EF4-FFF2-40B4-BE49-F238E27FC236}">
                <a16:creationId xmlns:a16="http://schemas.microsoft.com/office/drawing/2014/main" id="{F653425C-96C4-4F44-F4CF-85A70A7E9157}"/>
              </a:ext>
            </a:extLst>
          </p:cNvPr>
          <p:cNvSpPr/>
          <p:nvPr/>
        </p:nvSpPr>
        <p:spPr>
          <a:xfrm>
            <a:off x="2890568" y="1567413"/>
            <a:ext cx="384048" cy="183111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2D3D48-5227-FD6E-BD21-4EAFDCC2B73B}"/>
              </a:ext>
            </a:extLst>
          </p:cNvPr>
          <p:cNvSpPr txBox="1"/>
          <p:nvPr/>
        </p:nvSpPr>
        <p:spPr>
          <a:xfrm>
            <a:off x="14554" y="3257432"/>
            <a:ext cx="663274" cy="400110"/>
          </a:xfrm>
          <a:prstGeom prst="rect">
            <a:avLst/>
          </a:prstGeom>
          <a:noFill/>
        </p:spPr>
        <p:txBody>
          <a:bodyPr wrap="square" lIns="0" rIns="91440" rtlCol="0">
            <a:spAutoFit/>
          </a:bodyPr>
          <a:lstStyle/>
          <a:p>
            <a:pPr algn="r"/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100 mg/L chloride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519573-AD87-53FD-F36B-53C9DBC2E670}"/>
              </a:ext>
            </a:extLst>
          </p:cNvPr>
          <p:cNvSpPr txBox="1"/>
          <p:nvPr/>
        </p:nvSpPr>
        <p:spPr>
          <a:xfrm>
            <a:off x="0" y="2366613"/>
            <a:ext cx="663274" cy="400110"/>
          </a:xfrm>
          <a:prstGeom prst="rect">
            <a:avLst/>
          </a:prstGeom>
          <a:noFill/>
        </p:spPr>
        <p:txBody>
          <a:bodyPr wrap="square" lIns="0" rIns="91440" rtlCol="0">
            <a:spAutoFit/>
          </a:bodyPr>
          <a:lstStyle/>
          <a:p>
            <a:pPr algn="r"/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50 mg/L chloride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04F3FF-5219-B7D4-04D4-411F58D40DB4}"/>
              </a:ext>
            </a:extLst>
          </p:cNvPr>
          <p:cNvSpPr txBox="1"/>
          <p:nvPr/>
        </p:nvSpPr>
        <p:spPr>
          <a:xfrm>
            <a:off x="1870" y="1511615"/>
            <a:ext cx="663274" cy="400110"/>
          </a:xfrm>
          <a:prstGeom prst="rect">
            <a:avLst/>
          </a:prstGeom>
          <a:noFill/>
        </p:spPr>
        <p:txBody>
          <a:bodyPr wrap="square" lIns="0" rIns="91440" rtlCol="0">
            <a:spAutoFit/>
          </a:bodyPr>
          <a:lstStyle/>
          <a:p>
            <a:pPr algn="r"/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0 mg/L chloride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197CB95-55B5-FEB1-8E5C-D2FE610AE48B}"/>
              </a:ext>
            </a:extLst>
          </p:cNvPr>
          <p:cNvGrpSpPr/>
          <p:nvPr/>
        </p:nvGrpSpPr>
        <p:grpSpPr>
          <a:xfrm>
            <a:off x="10884110" y="1474186"/>
            <a:ext cx="1082045" cy="2050010"/>
            <a:chOff x="9836538" y="1471069"/>
            <a:chExt cx="1082045" cy="2050010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4026CE1-6E30-9B97-B730-0B28CA736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l="4016" t="1034" r="16794" b="7900"/>
            <a:stretch/>
          </p:blipFill>
          <p:spPr>
            <a:xfrm>
              <a:off x="9848897" y="1766670"/>
              <a:ext cx="1062133" cy="1754409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0DFE2BD4-FAED-44BC-90E5-EFE76F44EBA0}"/>
                </a:ext>
              </a:extLst>
            </p:cNvPr>
            <p:cNvSpPr/>
            <p:nvPr/>
          </p:nvSpPr>
          <p:spPr>
            <a:xfrm>
              <a:off x="10035874" y="2790703"/>
              <a:ext cx="228600" cy="228600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4DAE583-4FE2-8188-C4EE-B88471C53A7E}"/>
                </a:ext>
              </a:extLst>
            </p:cNvPr>
            <p:cNvSpPr/>
            <p:nvPr/>
          </p:nvSpPr>
          <p:spPr>
            <a:xfrm>
              <a:off x="10404133" y="2805466"/>
              <a:ext cx="228600" cy="228600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0DC52779-08DA-B84C-F154-C25FA402ADE1}"/>
                </a:ext>
              </a:extLst>
            </p:cNvPr>
            <p:cNvSpPr/>
            <p:nvPr/>
          </p:nvSpPr>
          <p:spPr>
            <a:xfrm>
              <a:off x="10214795" y="2066557"/>
              <a:ext cx="228600" cy="228600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64E46FF-6F21-E2B6-F017-C41F4DF7B9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29095" y="2414275"/>
              <a:ext cx="0" cy="365760"/>
            </a:xfrm>
            <a:prstGeom prst="straightConnector1">
              <a:avLst/>
            </a:prstGeom>
            <a:ln w="38100">
              <a:headEnd type="non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A6FE125-0FED-833C-EFFE-87D8E2F66825}"/>
                </a:ext>
              </a:extLst>
            </p:cNvPr>
            <p:cNvSpPr/>
            <p:nvPr/>
          </p:nvSpPr>
          <p:spPr>
            <a:xfrm>
              <a:off x="9836538" y="1471069"/>
              <a:ext cx="1082045" cy="36622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SRP in overlying water: 10 µg L</a:t>
              </a:r>
              <a:r>
                <a:rPr lang="en-US" sz="9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32B2E889-9E06-EF17-549B-7ADC371C91A3}"/>
                </a:ext>
              </a:extLst>
            </p:cNvPr>
            <p:cNvSpPr/>
            <p:nvPr/>
          </p:nvSpPr>
          <p:spPr>
            <a:xfrm>
              <a:off x="9946951" y="3212963"/>
              <a:ext cx="866023" cy="203155"/>
            </a:xfrm>
            <a:prstGeom prst="round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EPC = </a:t>
              </a:r>
              <a:r>
                <a:rPr lang="en-US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</a:t>
              </a:r>
              <a:r>
                <a:rPr lang="en-US" sz="9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µg L</a:t>
              </a:r>
              <a:r>
                <a:rPr lang="en-US" sz="900" baseline="30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  <a:r>
                <a:rPr lang="en-US" sz="9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</p:grp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104513F-AF35-AF46-92C7-449018FA55D8}"/>
              </a:ext>
            </a:extLst>
          </p:cNvPr>
          <p:cNvCxnSpPr/>
          <p:nvPr/>
        </p:nvCxnSpPr>
        <p:spPr>
          <a:xfrm>
            <a:off x="4715818" y="3989387"/>
            <a:ext cx="49857" cy="714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9865F5A-31E3-2BBF-269A-B5A5583A833D}"/>
              </a:ext>
            </a:extLst>
          </p:cNvPr>
          <p:cNvCxnSpPr>
            <a:cxnSpLocks/>
          </p:cNvCxnSpPr>
          <p:nvPr/>
        </p:nvCxnSpPr>
        <p:spPr>
          <a:xfrm flipV="1">
            <a:off x="4757735" y="3989387"/>
            <a:ext cx="46040" cy="714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21AFFB0-993A-3584-99FB-DA7383051C73}"/>
              </a:ext>
            </a:extLst>
          </p:cNvPr>
          <p:cNvCxnSpPr>
            <a:cxnSpLocks/>
          </p:cNvCxnSpPr>
          <p:nvPr/>
        </p:nvCxnSpPr>
        <p:spPr>
          <a:xfrm flipV="1">
            <a:off x="4622051" y="3989387"/>
            <a:ext cx="46040" cy="71438"/>
          </a:xfrm>
          <a:prstGeom prst="line">
            <a:avLst/>
          </a:prstGeom>
          <a:ln>
            <a:solidFill>
              <a:srgbClr val="CD8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9B3E41FA-81BA-AF87-CF06-101BAE8FD8BC}"/>
              </a:ext>
            </a:extLst>
          </p:cNvPr>
          <p:cNvSpPr/>
          <p:nvPr/>
        </p:nvSpPr>
        <p:spPr>
          <a:xfrm>
            <a:off x="4540414" y="3949486"/>
            <a:ext cx="45719" cy="82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8B66CF4-6768-B0A5-82E7-14752C827486}"/>
              </a:ext>
            </a:extLst>
          </p:cNvPr>
          <p:cNvCxnSpPr/>
          <p:nvPr/>
        </p:nvCxnSpPr>
        <p:spPr>
          <a:xfrm>
            <a:off x="4580134" y="3989387"/>
            <a:ext cx="49857" cy="71438"/>
          </a:xfrm>
          <a:prstGeom prst="line">
            <a:avLst/>
          </a:prstGeom>
          <a:ln>
            <a:solidFill>
              <a:srgbClr val="CD8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4ECA980-3CC3-1C7F-8694-F3B2079DC530}"/>
              </a:ext>
            </a:extLst>
          </p:cNvPr>
          <p:cNvCxnSpPr>
            <a:cxnSpLocks/>
          </p:cNvCxnSpPr>
          <p:nvPr/>
        </p:nvCxnSpPr>
        <p:spPr>
          <a:xfrm>
            <a:off x="4350619" y="3676851"/>
            <a:ext cx="0" cy="29645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3D41B0C-7EE6-AC92-ECBF-B54098D5C39A}"/>
              </a:ext>
            </a:extLst>
          </p:cNvPr>
          <p:cNvCxnSpPr>
            <a:cxnSpLocks/>
          </p:cNvCxnSpPr>
          <p:nvPr/>
        </p:nvCxnSpPr>
        <p:spPr>
          <a:xfrm>
            <a:off x="6654548" y="1845279"/>
            <a:ext cx="0" cy="4407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805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1FF2DB-6B08-4224-F59F-9355F541AC12}"/>
              </a:ext>
            </a:extLst>
          </p:cNvPr>
          <p:cNvSpPr/>
          <p:nvPr/>
        </p:nvSpPr>
        <p:spPr>
          <a:xfrm>
            <a:off x="5422392" y="105127"/>
            <a:ext cx="6693408" cy="637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5" name="Picture 164">
            <a:extLst>
              <a:ext uri="{FF2B5EF4-FFF2-40B4-BE49-F238E27FC236}">
                <a16:creationId xmlns:a16="http://schemas.microsoft.com/office/drawing/2014/main" id="{585C3E1A-8E1A-1B69-F1BD-7D7B3C335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761" y="666835"/>
            <a:ext cx="3228974" cy="27432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2EA72535-A29A-C45C-FCF8-45DE40D7664F}"/>
              </a:ext>
            </a:extLst>
          </p:cNvPr>
          <p:cNvSpPr txBox="1"/>
          <p:nvPr/>
        </p:nvSpPr>
        <p:spPr>
          <a:xfrm>
            <a:off x="10473928" y="159736"/>
            <a:ext cx="13440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P in solution after incubation with 100 mg/L chloride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C7197B-4C8D-84E0-A6A3-D0B26101DADE}"/>
              </a:ext>
            </a:extLst>
          </p:cNvPr>
          <p:cNvSpPr txBox="1"/>
          <p:nvPr/>
        </p:nvSpPr>
        <p:spPr>
          <a:xfrm>
            <a:off x="9948636" y="2540928"/>
            <a:ext cx="1895140" cy="5078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Conc. of P when sediments are in equilibrium with the water (EPC) </a:t>
            </a:r>
            <a:b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greater at 100 mg/L chloride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CE9A5F-0B2B-AA4F-E0E0-6E41934C1D63}"/>
              </a:ext>
            </a:extLst>
          </p:cNvPr>
          <p:cNvSpPr txBox="1"/>
          <p:nvPr/>
        </p:nvSpPr>
        <p:spPr>
          <a:xfrm>
            <a:off x="8677358" y="105127"/>
            <a:ext cx="1824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 How EPC is calculated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104513F-AF35-AF46-92C7-449018FA55D8}"/>
              </a:ext>
            </a:extLst>
          </p:cNvPr>
          <p:cNvCxnSpPr/>
          <p:nvPr/>
        </p:nvCxnSpPr>
        <p:spPr>
          <a:xfrm>
            <a:off x="9728100" y="2978472"/>
            <a:ext cx="49857" cy="714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9865F5A-31E3-2BBF-269A-B5A5583A833D}"/>
              </a:ext>
            </a:extLst>
          </p:cNvPr>
          <p:cNvCxnSpPr>
            <a:cxnSpLocks/>
          </p:cNvCxnSpPr>
          <p:nvPr/>
        </p:nvCxnSpPr>
        <p:spPr>
          <a:xfrm flipV="1">
            <a:off x="9770017" y="2978472"/>
            <a:ext cx="46040" cy="714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21AFFB0-993A-3584-99FB-DA7383051C73}"/>
              </a:ext>
            </a:extLst>
          </p:cNvPr>
          <p:cNvCxnSpPr>
            <a:cxnSpLocks/>
          </p:cNvCxnSpPr>
          <p:nvPr/>
        </p:nvCxnSpPr>
        <p:spPr>
          <a:xfrm flipV="1">
            <a:off x="9625885" y="2978472"/>
            <a:ext cx="46040" cy="71438"/>
          </a:xfrm>
          <a:prstGeom prst="line">
            <a:avLst/>
          </a:prstGeom>
          <a:ln>
            <a:solidFill>
              <a:srgbClr val="CD8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9B3E41FA-81BA-AF87-CF06-101BAE8FD8BC}"/>
              </a:ext>
            </a:extLst>
          </p:cNvPr>
          <p:cNvSpPr/>
          <p:nvPr/>
        </p:nvSpPr>
        <p:spPr>
          <a:xfrm>
            <a:off x="9552696" y="2938571"/>
            <a:ext cx="45719" cy="82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8B66CF4-6768-B0A5-82E7-14752C827486}"/>
              </a:ext>
            </a:extLst>
          </p:cNvPr>
          <p:cNvCxnSpPr/>
          <p:nvPr/>
        </p:nvCxnSpPr>
        <p:spPr>
          <a:xfrm>
            <a:off x="9583968" y="2978472"/>
            <a:ext cx="49857" cy="71438"/>
          </a:xfrm>
          <a:prstGeom prst="line">
            <a:avLst/>
          </a:prstGeom>
          <a:ln>
            <a:solidFill>
              <a:srgbClr val="CD8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1A7E480-BD87-D739-671C-6A8DD25B78C2}"/>
              </a:ext>
            </a:extLst>
          </p:cNvPr>
          <p:cNvSpPr/>
          <p:nvPr/>
        </p:nvSpPr>
        <p:spPr>
          <a:xfrm>
            <a:off x="11812043" y="503666"/>
            <a:ext cx="163159" cy="522394"/>
          </a:xfrm>
          <a:custGeom>
            <a:avLst/>
            <a:gdLst>
              <a:gd name="connsiteX0" fmla="*/ 0 w 220493"/>
              <a:gd name="connsiteY0" fmla="*/ 673036 h 673036"/>
              <a:gd name="connsiteX1" fmla="*/ 167099 w 220493"/>
              <a:gd name="connsiteY1" fmla="*/ 529146 h 673036"/>
              <a:gd name="connsiteX2" fmla="*/ 213515 w 220493"/>
              <a:gd name="connsiteY2" fmla="*/ 232082 h 673036"/>
              <a:gd name="connsiteX3" fmla="*/ 37133 w 220493"/>
              <a:gd name="connsiteY3" fmla="*/ 0 h 673036"/>
              <a:gd name="connsiteX0" fmla="*/ 0 w 220493"/>
              <a:gd name="connsiteY0" fmla="*/ 673036 h 673036"/>
              <a:gd name="connsiteX1" fmla="*/ 167099 w 220493"/>
              <a:gd name="connsiteY1" fmla="*/ 529146 h 673036"/>
              <a:gd name="connsiteX2" fmla="*/ 213515 w 220493"/>
              <a:gd name="connsiteY2" fmla="*/ 232082 h 673036"/>
              <a:gd name="connsiteX3" fmla="*/ 37133 w 220493"/>
              <a:gd name="connsiteY3" fmla="*/ 0 h 673036"/>
              <a:gd name="connsiteX0" fmla="*/ 0 w 213515"/>
              <a:gd name="connsiteY0" fmla="*/ 673036 h 673036"/>
              <a:gd name="connsiteX1" fmla="*/ 213515 w 213515"/>
              <a:gd name="connsiteY1" fmla="*/ 232082 h 673036"/>
              <a:gd name="connsiteX2" fmla="*/ 37133 w 213515"/>
              <a:gd name="connsiteY2" fmla="*/ 0 h 673036"/>
              <a:gd name="connsiteX0" fmla="*/ 0 w 232565"/>
              <a:gd name="connsiteY0" fmla="*/ 673036 h 673036"/>
              <a:gd name="connsiteX1" fmla="*/ 232565 w 232565"/>
              <a:gd name="connsiteY1" fmla="*/ 327332 h 673036"/>
              <a:gd name="connsiteX2" fmla="*/ 37133 w 232565"/>
              <a:gd name="connsiteY2" fmla="*/ 0 h 673036"/>
              <a:gd name="connsiteX0" fmla="*/ 0 w 232565"/>
              <a:gd name="connsiteY0" fmla="*/ 673036 h 673036"/>
              <a:gd name="connsiteX1" fmla="*/ 232565 w 232565"/>
              <a:gd name="connsiteY1" fmla="*/ 327332 h 673036"/>
              <a:gd name="connsiteX2" fmla="*/ 37133 w 232565"/>
              <a:gd name="connsiteY2" fmla="*/ 0 h 673036"/>
              <a:gd name="connsiteX0" fmla="*/ 0 w 232565"/>
              <a:gd name="connsiteY0" fmla="*/ 582548 h 582548"/>
              <a:gd name="connsiteX1" fmla="*/ 232565 w 232565"/>
              <a:gd name="connsiteY1" fmla="*/ 236844 h 582548"/>
              <a:gd name="connsiteX2" fmla="*/ 95871 w 232565"/>
              <a:gd name="connsiteY2" fmla="*/ 0 h 582548"/>
              <a:gd name="connsiteX0" fmla="*/ 0 w 232565"/>
              <a:gd name="connsiteY0" fmla="*/ 603185 h 603185"/>
              <a:gd name="connsiteX1" fmla="*/ 232565 w 232565"/>
              <a:gd name="connsiteY1" fmla="*/ 257481 h 603185"/>
              <a:gd name="connsiteX2" fmla="*/ 51421 w 232565"/>
              <a:gd name="connsiteY2" fmla="*/ 0 h 603185"/>
              <a:gd name="connsiteX0" fmla="*/ 14521 w 181144"/>
              <a:gd name="connsiteY0" fmla="*/ 584823 h 584823"/>
              <a:gd name="connsiteX1" fmla="*/ 181144 w 181144"/>
              <a:gd name="connsiteY1" fmla="*/ 257481 h 584823"/>
              <a:gd name="connsiteX2" fmla="*/ 0 w 181144"/>
              <a:gd name="connsiteY2" fmla="*/ 0 h 584823"/>
              <a:gd name="connsiteX0" fmla="*/ 14521 w 181144"/>
              <a:gd name="connsiteY0" fmla="*/ 584823 h 584823"/>
              <a:gd name="connsiteX1" fmla="*/ 181144 w 181144"/>
              <a:gd name="connsiteY1" fmla="*/ 257481 h 584823"/>
              <a:gd name="connsiteX2" fmla="*/ 0 w 181144"/>
              <a:gd name="connsiteY2" fmla="*/ 0 h 584823"/>
              <a:gd name="connsiteX0" fmla="*/ 14521 w 181144"/>
              <a:gd name="connsiteY0" fmla="*/ 522394 h 522394"/>
              <a:gd name="connsiteX1" fmla="*/ 181144 w 181144"/>
              <a:gd name="connsiteY1" fmla="*/ 257481 h 522394"/>
              <a:gd name="connsiteX2" fmla="*/ 0 w 181144"/>
              <a:gd name="connsiteY2" fmla="*/ 0 h 52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144" h="522394">
                <a:moveTo>
                  <a:pt x="14521" y="522394"/>
                </a:moveTo>
                <a:cubicBezTo>
                  <a:pt x="54882" y="408495"/>
                  <a:pt x="174955" y="369654"/>
                  <a:pt x="181144" y="257481"/>
                </a:cubicBezTo>
                <a:cubicBezTo>
                  <a:pt x="159483" y="169290"/>
                  <a:pt x="85298" y="133858"/>
                  <a:pt x="0" y="0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6F2B75D-8E29-18F9-072F-DF1DD28A5D02}"/>
              </a:ext>
            </a:extLst>
          </p:cNvPr>
          <p:cNvSpPr txBox="1"/>
          <p:nvPr/>
        </p:nvSpPr>
        <p:spPr>
          <a:xfrm>
            <a:off x="5570887" y="146522"/>
            <a:ext cx="2686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Experimental Set Up </a:t>
            </a: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A8A3EF4-A372-2480-12C8-4F3EC92C4151}"/>
              </a:ext>
            </a:extLst>
          </p:cNvPr>
          <p:cNvGrpSpPr/>
          <p:nvPr/>
        </p:nvGrpSpPr>
        <p:grpSpPr>
          <a:xfrm>
            <a:off x="5615418" y="459645"/>
            <a:ext cx="2975052" cy="2309197"/>
            <a:chOff x="5541774" y="459645"/>
            <a:chExt cx="2975052" cy="2309197"/>
          </a:xfrm>
        </p:grpSpPr>
        <p:sp>
          <p:nvSpPr>
            <p:cNvPr id="112" name="Flowchart: Off-page Connector 111">
              <a:extLst>
                <a:ext uri="{FF2B5EF4-FFF2-40B4-BE49-F238E27FC236}">
                  <a16:creationId xmlns:a16="http://schemas.microsoft.com/office/drawing/2014/main" id="{96FC4A61-3768-284A-E606-A27D55C635A9}"/>
                </a:ext>
              </a:extLst>
            </p:cNvPr>
            <p:cNvSpPr/>
            <p:nvPr/>
          </p:nvSpPr>
          <p:spPr>
            <a:xfrm>
              <a:off x="5587401" y="873821"/>
              <a:ext cx="304800" cy="822960"/>
            </a:xfrm>
            <a:prstGeom prst="flowChartOffpageConnector">
              <a:avLst/>
            </a:prstGeom>
            <a:gradFill flip="none" rotWithShape="1"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13" name="Flowchart: Magnetic Disk 112">
              <a:extLst>
                <a:ext uri="{FF2B5EF4-FFF2-40B4-BE49-F238E27FC236}">
                  <a16:creationId xmlns:a16="http://schemas.microsoft.com/office/drawing/2014/main" id="{33231DF7-FE09-0BD1-5852-5C09999BCD7D}"/>
                </a:ext>
              </a:extLst>
            </p:cNvPr>
            <p:cNvSpPr/>
            <p:nvPr/>
          </p:nvSpPr>
          <p:spPr>
            <a:xfrm>
              <a:off x="5541774" y="761330"/>
              <a:ext cx="384048" cy="183111"/>
            </a:xfrm>
            <a:prstGeom prst="flowChartMagneticDisk">
              <a:avLst/>
            </a:prstGeom>
            <a:solidFill>
              <a:srgbClr val="CF89B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lowchart: Off-page Connector 113">
              <a:extLst>
                <a:ext uri="{FF2B5EF4-FFF2-40B4-BE49-F238E27FC236}">
                  <a16:creationId xmlns:a16="http://schemas.microsoft.com/office/drawing/2014/main" id="{0A0CFAA2-9CB3-033F-900B-607C5AD7097F}"/>
                </a:ext>
              </a:extLst>
            </p:cNvPr>
            <p:cNvSpPr/>
            <p:nvPr/>
          </p:nvSpPr>
          <p:spPr>
            <a:xfrm>
              <a:off x="6033078" y="873821"/>
              <a:ext cx="304800" cy="822960"/>
            </a:xfrm>
            <a:prstGeom prst="flowChartOffpageConnector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16" name="Flowchart: Magnetic Disk 115">
              <a:extLst>
                <a:ext uri="{FF2B5EF4-FFF2-40B4-BE49-F238E27FC236}">
                  <a16:creationId xmlns:a16="http://schemas.microsoft.com/office/drawing/2014/main" id="{1C8BBD88-A555-C841-0ED9-C59EB19D54D6}"/>
                </a:ext>
              </a:extLst>
            </p:cNvPr>
            <p:cNvSpPr/>
            <p:nvPr/>
          </p:nvSpPr>
          <p:spPr>
            <a:xfrm>
              <a:off x="5987451" y="761330"/>
              <a:ext cx="384048" cy="183111"/>
            </a:xfrm>
            <a:prstGeom prst="flowChartMagneticDisk">
              <a:avLst/>
            </a:prstGeom>
            <a:solidFill>
              <a:srgbClr val="CF89B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lowchart: Off-page Connector 116">
              <a:extLst>
                <a:ext uri="{FF2B5EF4-FFF2-40B4-BE49-F238E27FC236}">
                  <a16:creationId xmlns:a16="http://schemas.microsoft.com/office/drawing/2014/main" id="{3C7B91FD-7049-BCB1-2EF1-7241792B147A}"/>
                </a:ext>
              </a:extLst>
            </p:cNvPr>
            <p:cNvSpPr/>
            <p:nvPr/>
          </p:nvSpPr>
          <p:spPr>
            <a:xfrm>
              <a:off x="6480136" y="873821"/>
              <a:ext cx="304800" cy="822960"/>
            </a:xfrm>
            <a:prstGeom prst="flowChartOffpageConnector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20" name="Flowchart: Magnetic Disk 119">
              <a:extLst>
                <a:ext uri="{FF2B5EF4-FFF2-40B4-BE49-F238E27FC236}">
                  <a16:creationId xmlns:a16="http://schemas.microsoft.com/office/drawing/2014/main" id="{7A45E7B3-CC29-E977-3AB2-8C0F9817ACA8}"/>
                </a:ext>
              </a:extLst>
            </p:cNvPr>
            <p:cNvSpPr/>
            <p:nvPr/>
          </p:nvSpPr>
          <p:spPr>
            <a:xfrm>
              <a:off x="6434509" y="761330"/>
              <a:ext cx="384048" cy="183111"/>
            </a:xfrm>
            <a:prstGeom prst="flowChartMagneticDisk">
              <a:avLst/>
            </a:prstGeom>
            <a:solidFill>
              <a:srgbClr val="CF89B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lowchart: Off-page Connector 120">
              <a:extLst>
                <a:ext uri="{FF2B5EF4-FFF2-40B4-BE49-F238E27FC236}">
                  <a16:creationId xmlns:a16="http://schemas.microsoft.com/office/drawing/2014/main" id="{BB3846C3-0828-031D-8353-65CF0AFBDEC2}"/>
                </a:ext>
              </a:extLst>
            </p:cNvPr>
            <p:cNvSpPr/>
            <p:nvPr/>
          </p:nvSpPr>
          <p:spPr>
            <a:xfrm>
              <a:off x="5589777" y="1930617"/>
              <a:ext cx="304800" cy="822960"/>
            </a:xfrm>
            <a:prstGeom prst="flowChartOffpageConnector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25" name="Flowchart: Magnetic Disk 124">
              <a:extLst>
                <a:ext uri="{FF2B5EF4-FFF2-40B4-BE49-F238E27FC236}">
                  <a16:creationId xmlns:a16="http://schemas.microsoft.com/office/drawing/2014/main" id="{E9017E3B-E0D7-0E3A-0A05-4A18FB927823}"/>
                </a:ext>
              </a:extLst>
            </p:cNvPr>
            <p:cNvSpPr/>
            <p:nvPr/>
          </p:nvSpPr>
          <p:spPr>
            <a:xfrm>
              <a:off x="5544150" y="1818126"/>
              <a:ext cx="384048" cy="183111"/>
            </a:xfrm>
            <a:prstGeom prst="flowChartMagneticDisk">
              <a:avLst/>
            </a:prstGeom>
            <a:solidFill>
              <a:srgbClr val="CF89B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Flowchart: Off-page Connector 125">
              <a:extLst>
                <a:ext uri="{FF2B5EF4-FFF2-40B4-BE49-F238E27FC236}">
                  <a16:creationId xmlns:a16="http://schemas.microsoft.com/office/drawing/2014/main" id="{F1A65C37-D934-E859-B349-FFAC55427D68}"/>
                </a:ext>
              </a:extLst>
            </p:cNvPr>
            <p:cNvSpPr/>
            <p:nvPr/>
          </p:nvSpPr>
          <p:spPr>
            <a:xfrm>
              <a:off x="6037986" y="1926122"/>
              <a:ext cx="304800" cy="822960"/>
            </a:xfrm>
            <a:prstGeom prst="flowChartOffpageConnector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150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27" name="Flowchart: Magnetic Disk 126">
              <a:extLst>
                <a:ext uri="{FF2B5EF4-FFF2-40B4-BE49-F238E27FC236}">
                  <a16:creationId xmlns:a16="http://schemas.microsoft.com/office/drawing/2014/main" id="{28D77FA9-79C8-A0E7-8C06-9F110653E208}"/>
                </a:ext>
              </a:extLst>
            </p:cNvPr>
            <p:cNvSpPr/>
            <p:nvPr/>
          </p:nvSpPr>
          <p:spPr>
            <a:xfrm>
              <a:off x="5992359" y="1813631"/>
              <a:ext cx="384048" cy="183111"/>
            </a:xfrm>
            <a:prstGeom prst="flowChartMagneticDisk">
              <a:avLst/>
            </a:prstGeom>
            <a:solidFill>
              <a:srgbClr val="CF89B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Flowchart: Off-page Connector 127">
              <a:extLst>
                <a:ext uri="{FF2B5EF4-FFF2-40B4-BE49-F238E27FC236}">
                  <a16:creationId xmlns:a16="http://schemas.microsoft.com/office/drawing/2014/main" id="{6C1F01BE-CDF6-DB83-4BEA-4F40FB8D0528}"/>
                </a:ext>
              </a:extLst>
            </p:cNvPr>
            <p:cNvSpPr/>
            <p:nvPr/>
          </p:nvSpPr>
          <p:spPr>
            <a:xfrm>
              <a:off x="6485769" y="1930617"/>
              <a:ext cx="304800" cy="822960"/>
            </a:xfrm>
            <a:prstGeom prst="flowChartOffpageConnector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300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29" name="Flowchart: Magnetic Disk 128">
              <a:extLst>
                <a:ext uri="{FF2B5EF4-FFF2-40B4-BE49-F238E27FC236}">
                  <a16:creationId xmlns:a16="http://schemas.microsoft.com/office/drawing/2014/main" id="{FFA736BF-02FD-08DF-384D-CCBB18B0A8E8}"/>
                </a:ext>
              </a:extLst>
            </p:cNvPr>
            <p:cNvSpPr/>
            <p:nvPr/>
          </p:nvSpPr>
          <p:spPr>
            <a:xfrm>
              <a:off x="6440142" y="1818126"/>
              <a:ext cx="384048" cy="183111"/>
            </a:xfrm>
            <a:prstGeom prst="flowChartMagneticDisk">
              <a:avLst/>
            </a:prstGeom>
            <a:solidFill>
              <a:srgbClr val="CF89B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lowchart: Off-page Connector 129">
              <a:extLst>
                <a:ext uri="{FF2B5EF4-FFF2-40B4-BE49-F238E27FC236}">
                  <a16:creationId xmlns:a16="http://schemas.microsoft.com/office/drawing/2014/main" id="{5E856CAE-CC32-82B0-7F0C-B6C5671F691B}"/>
                </a:ext>
              </a:extLst>
            </p:cNvPr>
            <p:cNvSpPr/>
            <p:nvPr/>
          </p:nvSpPr>
          <p:spPr>
            <a:xfrm>
              <a:off x="7166232" y="867132"/>
              <a:ext cx="304800" cy="822960"/>
            </a:xfrm>
            <a:prstGeom prst="flowChartOffpageConnector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31" name="Flowchart: Magnetic Disk 130">
              <a:extLst>
                <a:ext uri="{FF2B5EF4-FFF2-40B4-BE49-F238E27FC236}">
                  <a16:creationId xmlns:a16="http://schemas.microsoft.com/office/drawing/2014/main" id="{9F1D89A9-F3CB-8C96-3FC4-B6F63F83C3C4}"/>
                </a:ext>
              </a:extLst>
            </p:cNvPr>
            <p:cNvSpPr/>
            <p:nvPr/>
          </p:nvSpPr>
          <p:spPr>
            <a:xfrm>
              <a:off x="7120605" y="754641"/>
              <a:ext cx="384048" cy="18311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lowchart: Off-page Connector 131">
              <a:extLst>
                <a:ext uri="{FF2B5EF4-FFF2-40B4-BE49-F238E27FC236}">
                  <a16:creationId xmlns:a16="http://schemas.microsoft.com/office/drawing/2014/main" id="{563F6152-B90A-CA22-2CEF-1999116034E5}"/>
                </a:ext>
              </a:extLst>
            </p:cNvPr>
            <p:cNvSpPr/>
            <p:nvPr/>
          </p:nvSpPr>
          <p:spPr>
            <a:xfrm>
              <a:off x="7611909" y="867132"/>
              <a:ext cx="304800" cy="822960"/>
            </a:xfrm>
            <a:prstGeom prst="flowChartOffpageConnector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33" name="Flowchart: Magnetic Disk 132">
              <a:extLst>
                <a:ext uri="{FF2B5EF4-FFF2-40B4-BE49-F238E27FC236}">
                  <a16:creationId xmlns:a16="http://schemas.microsoft.com/office/drawing/2014/main" id="{46AD0874-A116-E440-03D0-9CD9E36035B2}"/>
                </a:ext>
              </a:extLst>
            </p:cNvPr>
            <p:cNvSpPr/>
            <p:nvPr/>
          </p:nvSpPr>
          <p:spPr>
            <a:xfrm>
              <a:off x="7566282" y="754641"/>
              <a:ext cx="384048" cy="18311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lowchart: Off-page Connector 133">
              <a:extLst>
                <a:ext uri="{FF2B5EF4-FFF2-40B4-BE49-F238E27FC236}">
                  <a16:creationId xmlns:a16="http://schemas.microsoft.com/office/drawing/2014/main" id="{045A3DED-3515-A868-3F1B-0E40CEB8B2DB}"/>
                </a:ext>
              </a:extLst>
            </p:cNvPr>
            <p:cNvSpPr/>
            <p:nvPr/>
          </p:nvSpPr>
          <p:spPr>
            <a:xfrm>
              <a:off x="8058967" y="867132"/>
              <a:ext cx="304800" cy="822960"/>
            </a:xfrm>
            <a:prstGeom prst="flowChartOffpageConnector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35" name="Flowchart: Magnetic Disk 134">
              <a:extLst>
                <a:ext uri="{FF2B5EF4-FFF2-40B4-BE49-F238E27FC236}">
                  <a16:creationId xmlns:a16="http://schemas.microsoft.com/office/drawing/2014/main" id="{86E2CCF0-A2CB-DEB9-8B22-24817E4E284C}"/>
                </a:ext>
              </a:extLst>
            </p:cNvPr>
            <p:cNvSpPr/>
            <p:nvPr/>
          </p:nvSpPr>
          <p:spPr>
            <a:xfrm>
              <a:off x="8013340" y="754641"/>
              <a:ext cx="384048" cy="18311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lowchart: Off-page Connector 135">
              <a:extLst>
                <a:ext uri="{FF2B5EF4-FFF2-40B4-BE49-F238E27FC236}">
                  <a16:creationId xmlns:a16="http://schemas.microsoft.com/office/drawing/2014/main" id="{ABABA489-3DE1-E872-F642-5B58AAEC5309}"/>
                </a:ext>
              </a:extLst>
            </p:cNvPr>
            <p:cNvSpPr/>
            <p:nvPr/>
          </p:nvSpPr>
          <p:spPr>
            <a:xfrm>
              <a:off x="7162975" y="1945882"/>
              <a:ext cx="304800" cy="822960"/>
            </a:xfrm>
            <a:prstGeom prst="flowChartOffpageConnector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37" name="Flowchart: Magnetic Disk 136">
              <a:extLst>
                <a:ext uri="{FF2B5EF4-FFF2-40B4-BE49-F238E27FC236}">
                  <a16:creationId xmlns:a16="http://schemas.microsoft.com/office/drawing/2014/main" id="{8BE65CF4-30A8-DA44-F98D-C26606EF4120}"/>
                </a:ext>
              </a:extLst>
            </p:cNvPr>
            <p:cNvSpPr/>
            <p:nvPr/>
          </p:nvSpPr>
          <p:spPr>
            <a:xfrm>
              <a:off x="7117348" y="1833391"/>
              <a:ext cx="384048" cy="18311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Flowchart: Off-page Connector 137">
              <a:extLst>
                <a:ext uri="{FF2B5EF4-FFF2-40B4-BE49-F238E27FC236}">
                  <a16:creationId xmlns:a16="http://schemas.microsoft.com/office/drawing/2014/main" id="{123C041E-0B4D-E7B1-EA74-A1F1813857A2}"/>
                </a:ext>
              </a:extLst>
            </p:cNvPr>
            <p:cNvSpPr/>
            <p:nvPr/>
          </p:nvSpPr>
          <p:spPr>
            <a:xfrm>
              <a:off x="7611184" y="1941387"/>
              <a:ext cx="304800" cy="822960"/>
            </a:xfrm>
            <a:prstGeom prst="flowChartOffpageConnector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150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39" name="Flowchart: Magnetic Disk 138">
              <a:extLst>
                <a:ext uri="{FF2B5EF4-FFF2-40B4-BE49-F238E27FC236}">
                  <a16:creationId xmlns:a16="http://schemas.microsoft.com/office/drawing/2014/main" id="{FE0E1645-78C7-CB56-2809-26AB6D4505AE}"/>
                </a:ext>
              </a:extLst>
            </p:cNvPr>
            <p:cNvSpPr/>
            <p:nvPr/>
          </p:nvSpPr>
          <p:spPr>
            <a:xfrm>
              <a:off x="7565557" y="1828896"/>
              <a:ext cx="384048" cy="18311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Flowchart: Off-page Connector 139">
              <a:extLst>
                <a:ext uri="{FF2B5EF4-FFF2-40B4-BE49-F238E27FC236}">
                  <a16:creationId xmlns:a16="http://schemas.microsoft.com/office/drawing/2014/main" id="{D89C8566-3BC4-3C29-3347-61109E8FB4DA}"/>
                </a:ext>
              </a:extLst>
            </p:cNvPr>
            <p:cNvSpPr/>
            <p:nvPr/>
          </p:nvSpPr>
          <p:spPr>
            <a:xfrm>
              <a:off x="8058967" y="1945882"/>
              <a:ext cx="304800" cy="822960"/>
            </a:xfrm>
            <a:prstGeom prst="flowChartOffpageConnector">
              <a:avLst/>
            </a:prstGeom>
            <a:gradFill>
              <a:gsLst>
                <a:gs pos="0">
                  <a:srgbClr val="537C95"/>
                </a:gs>
                <a:gs pos="100000">
                  <a:srgbClr val="DFE3E7"/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300 µg/L </a:t>
              </a:r>
              <a:b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added</a:t>
              </a:r>
            </a:p>
          </p:txBody>
        </p:sp>
        <p:sp>
          <p:nvSpPr>
            <p:cNvPr id="141" name="Flowchart: Magnetic Disk 140">
              <a:extLst>
                <a:ext uri="{FF2B5EF4-FFF2-40B4-BE49-F238E27FC236}">
                  <a16:creationId xmlns:a16="http://schemas.microsoft.com/office/drawing/2014/main" id="{8B0173DF-A12A-523D-E164-B724E262E123}"/>
                </a:ext>
              </a:extLst>
            </p:cNvPr>
            <p:cNvSpPr/>
            <p:nvPr/>
          </p:nvSpPr>
          <p:spPr>
            <a:xfrm>
              <a:off x="8013340" y="1833391"/>
              <a:ext cx="384048" cy="18311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1637CAE5-036D-EDAA-193A-341E3EDCB5AF}"/>
                </a:ext>
              </a:extLst>
            </p:cNvPr>
            <p:cNvSpPr/>
            <p:nvPr/>
          </p:nvSpPr>
          <p:spPr>
            <a:xfrm>
              <a:off x="5673807" y="1505018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52387255-5402-2283-09B7-EFA04C1A4226}"/>
                </a:ext>
              </a:extLst>
            </p:cNvPr>
            <p:cNvSpPr/>
            <p:nvPr/>
          </p:nvSpPr>
          <p:spPr>
            <a:xfrm>
              <a:off x="6117106" y="1509045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ECF5FEB1-F14A-CAD8-74AF-A071167918A4}"/>
                </a:ext>
              </a:extLst>
            </p:cNvPr>
            <p:cNvSpPr/>
            <p:nvPr/>
          </p:nvSpPr>
          <p:spPr>
            <a:xfrm>
              <a:off x="6567820" y="1509045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9111BF48-61D0-F440-4799-44D7054FD990}"/>
                </a:ext>
              </a:extLst>
            </p:cNvPr>
            <p:cNvSpPr/>
            <p:nvPr/>
          </p:nvSpPr>
          <p:spPr>
            <a:xfrm>
              <a:off x="5674894" y="2565187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C6B317F-0F1A-8755-0AA2-B94A80CF65B9}"/>
                </a:ext>
              </a:extLst>
            </p:cNvPr>
            <p:cNvSpPr/>
            <p:nvPr/>
          </p:nvSpPr>
          <p:spPr>
            <a:xfrm>
              <a:off x="6125892" y="2561346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091046BF-1AC4-3293-0D57-0C01AA087543}"/>
                </a:ext>
              </a:extLst>
            </p:cNvPr>
            <p:cNvSpPr/>
            <p:nvPr/>
          </p:nvSpPr>
          <p:spPr>
            <a:xfrm>
              <a:off x="6573675" y="2568341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990A47E4-8553-A142-CB0C-94F208E048AD}"/>
                </a:ext>
              </a:extLst>
            </p:cNvPr>
            <p:cNvSpPr/>
            <p:nvPr/>
          </p:nvSpPr>
          <p:spPr>
            <a:xfrm>
              <a:off x="7251509" y="1490656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BF49729D-F8A5-2058-518D-3319C308F4B0}"/>
                </a:ext>
              </a:extLst>
            </p:cNvPr>
            <p:cNvSpPr/>
            <p:nvPr/>
          </p:nvSpPr>
          <p:spPr>
            <a:xfrm>
              <a:off x="7694808" y="1494683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E122A104-B504-15FA-11CD-C81C802E814D}"/>
                </a:ext>
              </a:extLst>
            </p:cNvPr>
            <p:cNvSpPr/>
            <p:nvPr/>
          </p:nvSpPr>
          <p:spPr>
            <a:xfrm>
              <a:off x="8145522" y="1494683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008654D6-25AA-38E5-9BF7-1972D8099242}"/>
                </a:ext>
              </a:extLst>
            </p:cNvPr>
            <p:cNvSpPr/>
            <p:nvPr/>
          </p:nvSpPr>
          <p:spPr>
            <a:xfrm>
              <a:off x="7246963" y="2572779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0CC80416-CEB9-0C61-A382-DD91B070CB84}"/>
                </a:ext>
              </a:extLst>
            </p:cNvPr>
            <p:cNvSpPr/>
            <p:nvPr/>
          </p:nvSpPr>
          <p:spPr>
            <a:xfrm>
              <a:off x="7697961" y="2568938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8DDD1BCA-7DB9-3806-5D96-3413D739E100}"/>
                </a:ext>
              </a:extLst>
            </p:cNvPr>
            <p:cNvSpPr/>
            <p:nvPr/>
          </p:nvSpPr>
          <p:spPr>
            <a:xfrm>
              <a:off x="8145744" y="2575933"/>
              <a:ext cx="137160" cy="137160"/>
            </a:xfrm>
            <a:prstGeom prst="ellipse">
              <a:avLst/>
            </a:prstGeom>
            <a:solidFill>
              <a:srgbClr val="886644"/>
            </a:solidFill>
            <a:ln>
              <a:solidFill>
                <a:srgbClr val="5735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F0082CB-9A61-6562-A60D-24853F89BE63}"/>
                </a:ext>
              </a:extLst>
            </p:cNvPr>
            <p:cNvSpPr txBox="1"/>
            <p:nvPr/>
          </p:nvSpPr>
          <p:spPr>
            <a:xfrm>
              <a:off x="5553412" y="459645"/>
              <a:ext cx="1391390" cy="276999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sz="1200" i="1" dirty="0">
                  <a:latin typeface="Arial" panose="020B0604020202020204" pitchFamily="34" charset="0"/>
                  <a:cs typeface="Arial" panose="020B0604020202020204" pitchFamily="34" charset="0"/>
                </a:rPr>
                <a:t>50 mg/L chloride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54098707-1268-68E4-C48F-280EFC7E3882}"/>
                </a:ext>
              </a:extLst>
            </p:cNvPr>
            <p:cNvSpPr txBox="1"/>
            <p:nvPr/>
          </p:nvSpPr>
          <p:spPr>
            <a:xfrm>
              <a:off x="7125436" y="468278"/>
              <a:ext cx="1391390" cy="276999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sz="1200" i="1" dirty="0">
                  <a:latin typeface="Arial" panose="020B0604020202020204" pitchFamily="34" charset="0"/>
                  <a:cs typeface="Arial" panose="020B0604020202020204" pitchFamily="34" charset="0"/>
                </a:rPr>
                <a:t>100 mg/L chloride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8487398C-9675-20EE-77D6-3C902CBD81B2}"/>
              </a:ext>
            </a:extLst>
          </p:cNvPr>
          <p:cNvSpPr txBox="1"/>
          <p:nvPr/>
        </p:nvSpPr>
        <p:spPr>
          <a:xfrm>
            <a:off x="7814454" y="2917305"/>
            <a:ext cx="13346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P desorbed from sediment in 100 mg/L chloride</a:t>
            </a: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9442588C-5CFC-7DD7-FAB6-3BCE8EE6637B}"/>
              </a:ext>
            </a:extLst>
          </p:cNvPr>
          <p:cNvSpPr/>
          <p:nvPr/>
        </p:nvSpPr>
        <p:spPr>
          <a:xfrm>
            <a:off x="8653047" y="2798432"/>
            <a:ext cx="628612" cy="177971"/>
          </a:xfrm>
          <a:custGeom>
            <a:avLst/>
            <a:gdLst>
              <a:gd name="connsiteX0" fmla="*/ 699608 w 699608"/>
              <a:gd name="connsiteY0" fmla="*/ 0 h 177971"/>
              <a:gd name="connsiteX1" fmla="*/ 527774 w 699608"/>
              <a:gd name="connsiteY1" fmla="*/ 67506 h 177971"/>
              <a:gd name="connsiteX2" fmla="*/ 122738 w 699608"/>
              <a:gd name="connsiteY2" fmla="*/ 61369 h 177971"/>
              <a:gd name="connsiteX3" fmla="*/ 0 w 699608"/>
              <a:gd name="connsiteY3" fmla="*/ 177971 h 17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9608" h="177971">
                <a:moveTo>
                  <a:pt x="699608" y="0"/>
                </a:moveTo>
                <a:cubicBezTo>
                  <a:pt x="661763" y="28639"/>
                  <a:pt x="623919" y="57278"/>
                  <a:pt x="527774" y="67506"/>
                </a:cubicBezTo>
                <a:cubicBezTo>
                  <a:pt x="431629" y="77734"/>
                  <a:pt x="210700" y="42958"/>
                  <a:pt x="122738" y="61369"/>
                </a:cubicBezTo>
                <a:cubicBezTo>
                  <a:pt x="34776" y="79780"/>
                  <a:pt x="17388" y="128875"/>
                  <a:pt x="0" y="177971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ight Bracket 166">
            <a:extLst>
              <a:ext uri="{FF2B5EF4-FFF2-40B4-BE49-F238E27FC236}">
                <a16:creationId xmlns:a16="http://schemas.microsoft.com/office/drawing/2014/main" id="{BA296150-1FBA-16C3-9D66-E6DB4BA0C911}"/>
              </a:ext>
            </a:extLst>
          </p:cNvPr>
          <p:cNvSpPr/>
          <p:nvPr/>
        </p:nvSpPr>
        <p:spPr>
          <a:xfrm rot="5400000">
            <a:off x="9686597" y="2993956"/>
            <a:ext cx="49857" cy="226222"/>
          </a:xfrm>
          <a:prstGeom prst="rightBracke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45170283-C7A1-014C-465E-86C3604B5803}"/>
              </a:ext>
            </a:extLst>
          </p:cNvPr>
          <p:cNvSpPr/>
          <p:nvPr/>
        </p:nvSpPr>
        <p:spPr>
          <a:xfrm>
            <a:off x="9709957" y="2888913"/>
            <a:ext cx="371673" cy="350090"/>
          </a:xfrm>
          <a:custGeom>
            <a:avLst/>
            <a:gdLst>
              <a:gd name="connsiteX0" fmla="*/ 0 w 371673"/>
              <a:gd name="connsiteY0" fmla="*/ 242854 h 350968"/>
              <a:gd name="connsiteX1" fmla="*/ 63353 w 371673"/>
              <a:gd name="connsiteY1" fmla="*/ 350555 h 350968"/>
              <a:gd name="connsiteX2" fmla="*/ 215401 w 371673"/>
              <a:gd name="connsiteY2" fmla="*/ 268196 h 350968"/>
              <a:gd name="connsiteX3" fmla="*/ 371673 w 371673"/>
              <a:gd name="connsiteY3" fmla="*/ 0 h 350968"/>
              <a:gd name="connsiteX0" fmla="*/ 0 w 371673"/>
              <a:gd name="connsiteY0" fmla="*/ 242854 h 360224"/>
              <a:gd name="connsiteX1" fmla="*/ 63353 w 371673"/>
              <a:gd name="connsiteY1" fmla="*/ 350555 h 360224"/>
              <a:gd name="connsiteX2" fmla="*/ 371673 w 371673"/>
              <a:gd name="connsiteY2" fmla="*/ 0 h 360224"/>
              <a:gd name="connsiteX0" fmla="*/ 0 w 371673"/>
              <a:gd name="connsiteY0" fmla="*/ 242854 h 350090"/>
              <a:gd name="connsiteX1" fmla="*/ 140471 w 371673"/>
              <a:gd name="connsiteY1" fmla="*/ 339539 h 350090"/>
              <a:gd name="connsiteX2" fmla="*/ 371673 w 371673"/>
              <a:gd name="connsiteY2" fmla="*/ 0 h 35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673" h="350090">
                <a:moveTo>
                  <a:pt x="0" y="242854"/>
                </a:moveTo>
                <a:cubicBezTo>
                  <a:pt x="13726" y="294592"/>
                  <a:pt x="78526" y="380015"/>
                  <a:pt x="140471" y="339539"/>
                </a:cubicBezTo>
                <a:cubicBezTo>
                  <a:pt x="202417" y="299063"/>
                  <a:pt x="307440" y="73032"/>
                  <a:pt x="371673" y="0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AFC3ECDD-9986-CE84-A5AF-4197132BE199}"/>
              </a:ext>
            </a:extLst>
          </p:cNvPr>
          <p:cNvGrpSpPr/>
          <p:nvPr/>
        </p:nvGrpSpPr>
        <p:grpSpPr>
          <a:xfrm>
            <a:off x="5621687" y="3260482"/>
            <a:ext cx="6365930" cy="3140984"/>
            <a:chOff x="5570887" y="3273182"/>
            <a:chExt cx="6365930" cy="314098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51AF47F-8FB9-E615-74C7-7154633510A2}"/>
                </a:ext>
              </a:extLst>
            </p:cNvPr>
            <p:cNvSpPr txBox="1"/>
            <p:nvPr/>
          </p:nvSpPr>
          <p:spPr>
            <a:xfrm>
              <a:off x="5590772" y="5398503"/>
              <a:ext cx="1467756" cy="101566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SRP in the overlying water is at </a:t>
              </a:r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equilibrium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with the capacity of the sediment to sorb loosely-bound P, concentrations in water do not change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DC2FFFF-4D4C-CEB4-01B7-0895DAC89D20}"/>
                </a:ext>
              </a:extLst>
            </p:cNvPr>
            <p:cNvSpPr txBox="1"/>
            <p:nvPr/>
          </p:nvSpPr>
          <p:spPr>
            <a:xfrm>
              <a:off x="5570887" y="3273182"/>
              <a:ext cx="3642638" cy="338554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 Interpretation of EPC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E465256-9FF0-F51A-3650-EA147566BC71}"/>
                </a:ext>
              </a:extLst>
            </p:cNvPr>
            <p:cNvSpPr txBox="1"/>
            <p:nvPr/>
          </p:nvSpPr>
          <p:spPr>
            <a:xfrm>
              <a:off x="7188010" y="5384726"/>
              <a:ext cx="1484524" cy="101566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Sediments as a P sink: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SRP in the overlying water is greater than capacity of the sediment to sorb loosely-bound P, </a:t>
              </a:r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adsorption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favored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DFAD3F3-FD8E-4232-DB10-AF4467B7E5A5}"/>
                </a:ext>
              </a:extLst>
            </p:cNvPr>
            <p:cNvSpPr txBox="1"/>
            <p:nvPr/>
          </p:nvSpPr>
          <p:spPr>
            <a:xfrm>
              <a:off x="8776576" y="5379099"/>
              <a:ext cx="1577254" cy="101566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Sediment as a P source: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SRP in the overlying water </a:t>
              </a:r>
              <a:b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is less than the capacity of the sediments to sorb loosely-bound P, </a:t>
              </a:r>
              <a:b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desportion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favored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4BA848D-669E-A819-7ECB-F915C9241A0E}"/>
                </a:ext>
              </a:extLst>
            </p:cNvPr>
            <p:cNvSpPr txBox="1"/>
            <p:nvPr/>
          </p:nvSpPr>
          <p:spPr>
            <a:xfrm>
              <a:off x="10466383" y="5408174"/>
              <a:ext cx="1456861" cy="97872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lIns="45720" tIns="27432" rIns="45720" bIns="27432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Increasing EPC means the sediment is more likely to become a </a:t>
              </a:r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source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of SRP or a larger </a:t>
              </a:r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source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of SRP to the overlying water</a:t>
              </a:r>
            </a:p>
          </p:txBody>
        </p:sp>
        <p:pic>
          <p:nvPicPr>
            <p:cNvPr id="184" name="Picture 183">
              <a:extLst>
                <a:ext uri="{FF2B5EF4-FFF2-40B4-BE49-F238E27FC236}">
                  <a16:creationId xmlns:a16="http://schemas.microsoft.com/office/drawing/2014/main" id="{4CCD8D04-46B1-CE10-0F1B-43DD7ECFB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052" r="1911" b="5278"/>
            <a:stretch/>
          </p:blipFill>
          <p:spPr>
            <a:xfrm>
              <a:off x="5604734" y="3736093"/>
              <a:ext cx="1446351" cy="16458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85" name="Picture 184">
              <a:extLst>
                <a:ext uri="{FF2B5EF4-FFF2-40B4-BE49-F238E27FC236}">
                  <a16:creationId xmlns:a16="http://schemas.microsoft.com/office/drawing/2014/main" id="{6C73C4CE-3F71-817A-69E3-DBD614341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052" r="1911" b="5278"/>
            <a:stretch/>
          </p:blipFill>
          <p:spPr>
            <a:xfrm>
              <a:off x="7226183" y="3736093"/>
              <a:ext cx="1446351" cy="16458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4D819E75-D568-2BE3-AF9A-FD6727458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052" r="1911" b="5278"/>
            <a:stretch/>
          </p:blipFill>
          <p:spPr>
            <a:xfrm>
              <a:off x="8852379" y="3720849"/>
              <a:ext cx="1446351" cy="16458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87" name="Picture 186">
              <a:extLst>
                <a:ext uri="{FF2B5EF4-FFF2-40B4-BE49-F238E27FC236}">
                  <a16:creationId xmlns:a16="http://schemas.microsoft.com/office/drawing/2014/main" id="{6E905504-D7C6-6510-C2CA-EC95E8383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052" r="1911" b="5278"/>
            <a:stretch/>
          </p:blipFill>
          <p:spPr>
            <a:xfrm>
              <a:off x="10466384" y="3720849"/>
              <a:ext cx="1446351" cy="16458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1E167049-B4AE-A1E8-D848-95B1602BEA70}"/>
                </a:ext>
              </a:extLst>
            </p:cNvPr>
            <p:cNvSpPr/>
            <p:nvPr/>
          </p:nvSpPr>
          <p:spPr>
            <a:xfrm>
              <a:off x="5590772" y="3603996"/>
              <a:ext cx="1481328" cy="3657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SRP in overlying water: 30 µg L</a:t>
              </a:r>
              <a:r>
                <a:rPr lang="en-US" sz="1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190" name="Rectangle: Rounded Corners 189">
              <a:extLst>
                <a:ext uri="{FF2B5EF4-FFF2-40B4-BE49-F238E27FC236}">
                  <a16:creationId xmlns:a16="http://schemas.microsoft.com/office/drawing/2014/main" id="{536EEE47-39B3-A94F-A9B8-98DBE788CDA6}"/>
                </a:ext>
              </a:extLst>
            </p:cNvPr>
            <p:cNvSpPr/>
            <p:nvPr/>
          </p:nvSpPr>
          <p:spPr>
            <a:xfrm>
              <a:off x="5801324" y="5065502"/>
              <a:ext cx="1005840" cy="203155"/>
            </a:xfrm>
            <a:prstGeom prst="round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EPC = 30 µg L</a:t>
              </a:r>
              <a:r>
                <a:rPr lang="en-US" sz="1000" baseline="30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91" name="Rectangle: Rounded Corners 190">
              <a:extLst>
                <a:ext uri="{FF2B5EF4-FFF2-40B4-BE49-F238E27FC236}">
                  <a16:creationId xmlns:a16="http://schemas.microsoft.com/office/drawing/2014/main" id="{E7E2C1EC-9E62-D02A-2E6F-B7E9EFD29F2B}"/>
                </a:ext>
              </a:extLst>
            </p:cNvPr>
            <p:cNvSpPr/>
            <p:nvPr/>
          </p:nvSpPr>
          <p:spPr>
            <a:xfrm>
              <a:off x="7482494" y="5065501"/>
              <a:ext cx="1005840" cy="203155"/>
            </a:xfrm>
            <a:prstGeom prst="round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EPC = 30 µg L</a:t>
              </a:r>
              <a:r>
                <a:rPr lang="en-US" sz="1000" baseline="30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EDB2F4A4-9725-DC45-A0A4-BCF1CF3E5D9C}"/>
                </a:ext>
              </a:extLst>
            </p:cNvPr>
            <p:cNvSpPr/>
            <p:nvPr/>
          </p:nvSpPr>
          <p:spPr>
            <a:xfrm>
              <a:off x="9095494" y="5070908"/>
              <a:ext cx="1005840" cy="203155"/>
            </a:xfrm>
            <a:prstGeom prst="round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EPC = 30 µg L</a:t>
              </a:r>
              <a:r>
                <a:rPr lang="en-US" sz="1000" baseline="30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93" name="Rectangle: Rounded Corners 192">
              <a:extLst>
                <a:ext uri="{FF2B5EF4-FFF2-40B4-BE49-F238E27FC236}">
                  <a16:creationId xmlns:a16="http://schemas.microsoft.com/office/drawing/2014/main" id="{C88B3C6D-DDC7-C8BC-0AB9-8A721EB0B75B}"/>
                </a:ext>
              </a:extLst>
            </p:cNvPr>
            <p:cNvSpPr/>
            <p:nvPr/>
          </p:nvSpPr>
          <p:spPr>
            <a:xfrm>
              <a:off x="10665619" y="5065501"/>
              <a:ext cx="1005840" cy="203155"/>
            </a:xfrm>
            <a:prstGeom prst="round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EPC = 50 µg L</a:t>
              </a:r>
              <a:r>
                <a:rPr lang="en-US" sz="1000" b="1" baseline="30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  <a:r>
                <a:rPr lang="en-US" sz="10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D445D3F-EEC7-8890-0DEA-AF7A8475FB82}"/>
                </a:ext>
              </a:extLst>
            </p:cNvPr>
            <p:cNvSpPr/>
            <p:nvPr/>
          </p:nvSpPr>
          <p:spPr>
            <a:xfrm>
              <a:off x="5801324" y="4682851"/>
              <a:ext cx="228600" cy="228600"/>
            </a:xfrm>
            <a:prstGeom prst="ellipse">
              <a:avLst/>
            </a:prstGeom>
            <a:solidFill>
              <a:srgbClr val="CF89BB"/>
            </a:solidFill>
            <a:ln>
              <a:solidFill>
                <a:srgbClr val="C167A7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2714B62-870D-249D-29A0-CA8CD2F320C1}"/>
                </a:ext>
              </a:extLst>
            </p:cNvPr>
            <p:cNvSpPr/>
            <p:nvPr/>
          </p:nvSpPr>
          <p:spPr>
            <a:xfrm>
              <a:off x="6113826" y="4792458"/>
              <a:ext cx="228600" cy="228600"/>
            </a:xfrm>
            <a:prstGeom prst="ellipse">
              <a:avLst/>
            </a:prstGeom>
            <a:solidFill>
              <a:srgbClr val="CF89BB"/>
            </a:solidFill>
            <a:ln>
              <a:solidFill>
                <a:srgbClr val="C167A7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A48015F-7D95-22A8-3CBF-5BAD135D076B}"/>
                </a:ext>
              </a:extLst>
            </p:cNvPr>
            <p:cNvSpPr/>
            <p:nvPr/>
          </p:nvSpPr>
          <p:spPr>
            <a:xfrm>
              <a:off x="5899871" y="4029380"/>
              <a:ext cx="228600" cy="228600"/>
            </a:xfrm>
            <a:prstGeom prst="ellipse">
              <a:avLst/>
            </a:prstGeom>
            <a:solidFill>
              <a:srgbClr val="CF89BB"/>
            </a:solidFill>
            <a:ln>
              <a:solidFill>
                <a:srgbClr val="C167A7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4D63BFD-A2AD-EF42-70ED-193D3777C276}"/>
                </a:ext>
              </a:extLst>
            </p:cNvPr>
            <p:cNvSpPr/>
            <p:nvPr/>
          </p:nvSpPr>
          <p:spPr>
            <a:xfrm>
              <a:off x="6178739" y="4148133"/>
              <a:ext cx="228600" cy="228600"/>
            </a:xfrm>
            <a:prstGeom prst="ellipse">
              <a:avLst/>
            </a:prstGeom>
            <a:solidFill>
              <a:srgbClr val="CF89BB"/>
            </a:solidFill>
            <a:ln>
              <a:solidFill>
                <a:srgbClr val="C167A7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F5F1AAF-7511-6B3A-F45F-CAEF1B078A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1447" y="4330097"/>
              <a:ext cx="0" cy="36576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C8FD6894-B3D5-BF1E-900A-FF83A71A33AC}"/>
                </a:ext>
              </a:extLst>
            </p:cNvPr>
            <p:cNvSpPr txBox="1"/>
            <p:nvPr/>
          </p:nvSpPr>
          <p:spPr>
            <a:xfrm>
              <a:off x="6083853" y="4376733"/>
              <a:ext cx="8797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equilibrium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F1379FF-167D-2618-4DFE-E24DEF2E5290}"/>
                </a:ext>
              </a:extLst>
            </p:cNvPr>
            <p:cNvSpPr/>
            <p:nvPr/>
          </p:nvSpPr>
          <p:spPr>
            <a:xfrm>
              <a:off x="7212371" y="3616812"/>
              <a:ext cx="1481328" cy="3657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SRP in overlying water: 50 µg L</a:t>
              </a:r>
              <a:r>
                <a:rPr lang="en-US" sz="1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1981F96F-7B0F-6A6F-4F68-C787C7395628}"/>
                </a:ext>
              </a:extLst>
            </p:cNvPr>
            <p:cNvSpPr/>
            <p:nvPr/>
          </p:nvSpPr>
          <p:spPr>
            <a:xfrm>
              <a:off x="8840658" y="3620730"/>
              <a:ext cx="1481328" cy="3657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SRP in overlying water: 10 µg L</a:t>
              </a:r>
              <a:r>
                <a:rPr lang="en-US" sz="1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B4C6B42-9030-229C-BD5E-F1CCEDEE0E5F}"/>
                </a:ext>
              </a:extLst>
            </p:cNvPr>
            <p:cNvSpPr/>
            <p:nvPr/>
          </p:nvSpPr>
          <p:spPr>
            <a:xfrm>
              <a:off x="10455489" y="3620730"/>
              <a:ext cx="1481328" cy="3657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SRP in overlying water: 10 µg L</a:t>
              </a:r>
              <a:r>
                <a:rPr lang="en-US" sz="1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088B1685-213D-BF10-A89F-8C4D13697962}"/>
                </a:ext>
              </a:extLst>
            </p:cNvPr>
            <p:cNvSpPr/>
            <p:nvPr/>
          </p:nvSpPr>
          <p:spPr>
            <a:xfrm>
              <a:off x="7667453" y="4805146"/>
              <a:ext cx="228600" cy="228600"/>
            </a:xfrm>
            <a:prstGeom prst="ellipse">
              <a:avLst/>
            </a:prstGeom>
            <a:solidFill>
              <a:srgbClr val="CF89BB"/>
            </a:solidFill>
            <a:ln>
              <a:solidFill>
                <a:srgbClr val="C167A7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5F0C390A-A30D-F89A-F253-5F77C9F5BA23}"/>
                </a:ext>
              </a:extLst>
            </p:cNvPr>
            <p:cNvSpPr/>
            <p:nvPr/>
          </p:nvSpPr>
          <p:spPr>
            <a:xfrm>
              <a:off x="7453498" y="4042068"/>
              <a:ext cx="228600" cy="228600"/>
            </a:xfrm>
            <a:prstGeom prst="ellipse">
              <a:avLst/>
            </a:prstGeom>
            <a:solidFill>
              <a:srgbClr val="CF89BB"/>
            </a:solidFill>
            <a:ln>
              <a:solidFill>
                <a:srgbClr val="C167A7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CA9769F8-9D13-D405-E460-BCCEED81ADE4}"/>
                </a:ext>
              </a:extLst>
            </p:cNvPr>
            <p:cNvSpPr/>
            <p:nvPr/>
          </p:nvSpPr>
          <p:spPr>
            <a:xfrm>
              <a:off x="7732366" y="4160821"/>
              <a:ext cx="228600" cy="228600"/>
            </a:xfrm>
            <a:prstGeom prst="ellipse">
              <a:avLst/>
            </a:prstGeom>
            <a:solidFill>
              <a:srgbClr val="CF89BB"/>
            </a:solidFill>
            <a:ln>
              <a:solidFill>
                <a:srgbClr val="C167A7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D3C2B743-2EEE-4CBF-ABDA-5531546AA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5074" y="4347403"/>
              <a:ext cx="0" cy="365760"/>
            </a:xfrm>
            <a:prstGeom prst="straightConnector1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08FF3A56-8857-E4EB-A579-8B6C330C1DE1}"/>
                </a:ext>
              </a:extLst>
            </p:cNvPr>
            <p:cNvSpPr txBox="1"/>
            <p:nvPr/>
          </p:nvSpPr>
          <p:spPr>
            <a:xfrm>
              <a:off x="7637480" y="4389421"/>
              <a:ext cx="8797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adsorption</a:t>
              </a: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6C2D4E0-3617-D1D0-56C9-DAE741F13E9C}"/>
                </a:ext>
              </a:extLst>
            </p:cNvPr>
            <p:cNvSpPr/>
            <p:nvPr/>
          </p:nvSpPr>
          <p:spPr>
            <a:xfrm>
              <a:off x="7306162" y="4282422"/>
              <a:ext cx="228600" cy="228600"/>
            </a:xfrm>
            <a:prstGeom prst="ellipse">
              <a:avLst/>
            </a:prstGeom>
            <a:solidFill>
              <a:srgbClr val="CF89BB"/>
            </a:solidFill>
            <a:ln>
              <a:solidFill>
                <a:srgbClr val="C167A7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4A2F6800-A75D-CC89-3FCC-B1312DCE770F}"/>
                </a:ext>
              </a:extLst>
            </p:cNvPr>
            <p:cNvSpPr/>
            <p:nvPr/>
          </p:nvSpPr>
          <p:spPr>
            <a:xfrm>
              <a:off x="9060981" y="4653521"/>
              <a:ext cx="228600" cy="228600"/>
            </a:xfrm>
            <a:prstGeom prst="ellipse">
              <a:avLst/>
            </a:prstGeom>
            <a:solidFill>
              <a:srgbClr val="CF89BB"/>
            </a:solidFill>
            <a:ln>
              <a:solidFill>
                <a:srgbClr val="C167A7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D934E176-0DA8-A954-757D-8FD6F3CB6838}"/>
                </a:ext>
              </a:extLst>
            </p:cNvPr>
            <p:cNvSpPr/>
            <p:nvPr/>
          </p:nvSpPr>
          <p:spPr>
            <a:xfrm>
              <a:off x="9373483" y="4763128"/>
              <a:ext cx="228600" cy="228600"/>
            </a:xfrm>
            <a:prstGeom prst="ellipse">
              <a:avLst/>
            </a:prstGeom>
            <a:solidFill>
              <a:srgbClr val="CF89BB"/>
            </a:solidFill>
            <a:ln>
              <a:solidFill>
                <a:srgbClr val="C167A7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237F8FE8-1567-1F81-DEFA-C0695CFB1283}"/>
                </a:ext>
              </a:extLst>
            </p:cNvPr>
            <p:cNvSpPr/>
            <p:nvPr/>
          </p:nvSpPr>
          <p:spPr>
            <a:xfrm>
              <a:off x="9117110" y="4065033"/>
              <a:ext cx="228600" cy="228600"/>
            </a:xfrm>
            <a:prstGeom prst="ellipse">
              <a:avLst/>
            </a:prstGeom>
            <a:solidFill>
              <a:srgbClr val="CF89BB"/>
            </a:solidFill>
            <a:ln>
              <a:solidFill>
                <a:srgbClr val="C167A7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3F2E2C5A-C694-76E0-8F35-BD143756A6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1104" y="4300767"/>
              <a:ext cx="0" cy="36576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FC2143CA-3265-0C9F-A47E-CF7607F9460D}"/>
                </a:ext>
              </a:extLst>
            </p:cNvPr>
            <p:cNvSpPr txBox="1"/>
            <p:nvPr/>
          </p:nvSpPr>
          <p:spPr>
            <a:xfrm>
              <a:off x="9343510" y="4347403"/>
              <a:ext cx="8797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desorption</a:t>
              </a:r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9F5F6782-DE0B-AF3C-782E-6466BAACAC74}"/>
                </a:ext>
              </a:extLst>
            </p:cNvPr>
            <p:cNvSpPr/>
            <p:nvPr/>
          </p:nvSpPr>
          <p:spPr>
            <a:xfrm>
              <a:off x="10614407" y="4646292"/>
              <a:ext cx="228600" cy="228600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E6013060-9651-3B5F-F659-983C8C9B5C42}"/>
                </a:ext>
              </a:extLst>
            </p:cNvPr>
            <p:cNvSpPr/>
            <p:nvPr/>
          </p:nvSpPr>
          <p:spPr>
            <a:xfrm>
              <a:off x="10926909" y="4755899"/>
              <a:ext cx="228600" cy="228600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92100CA1-0AFE-648E-E902-0794059350B9}"/>
                </a:ext>
              </a:extLst>
            </p:cNvPr>
            <p:cNvSpPr/>
            <p:nvPr/>
          </p:nvSpPr>
          <p:spPr>
            <a:xfrm>
              <a:off x="10670536" y="4057804"/>
              <a:ext cx="228600" cy="228600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24219D3B-0EAA-5CDE-0262-8ADCB3864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34530" y="4293538"/>
              <a:ext cx="0" cy="365760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7C48DAC8-CBFC-D1E9-2B98-A2D4256A7AE6}"/>
                </a:ext>
              </a:extLst>
            </p:cNvPr>
            <p:cNvSpPr txBox="1"/>
            <p:nvPr/>
          </p:nvSpPr>
          <p:spPr>
            <a:xfrm>
              <a:off x="10937472" y="4299638"/>
              <a:ext cx="8797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greater desorption</a:t>
              </a:r>
            </a:p>
          </p:txBody>
        </p:sp>
      </p:grpSp>
      <p:sp>
        <p:nvSpPr>
          <p:cNvPr id="215" name="Right Bracket 214">
            <a:extLst>
              <a:ext uri="{FF2B5EF4-FFF2-40B4-BE49-F238E27FC236}">
                <a16:creationId xmlns:a16="http://schemas.microsoft.com/office/drawing/2014/main" id="{D8844B09-B1EF-4CF6-3CF2-890B0218352D}"/>
              </a:ext>
            </a:extLst>
          </p:cNvPr>
          <p:cNvSpPr/>
          <p:nvPr/>
        </p:nvSpPr>
        <p:spPr>
          <a:xfrm rot="10800000">
            <a:off x="9281659" y="2735385"/>
            <a:ext cx="49857" cy="155448"/>
          </a:xfrm>
          <a:prstGeom prst="rightBracke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ight Bracket 215">
            <a:extLst>
              <a:ext uri="{FF2B5EF4-FFF2-40B4-BE49-F238E27FC236}">
                <a16:creationId xmlns:a16="http://schemas.microsoft.com/office/drawing/2014/main" id="{BBFA2686-E3B3-556B-DEC0-79BEEF3051B9}"/>
              </a:ext>
            </a:extLst>
          </p:cNvPr>
          <p:cNvSpPr/>
          <p:nvPr/>
        </p:nvSpPr>
        <p:spPr>
          <a:xfrm>
            <a:off x="11773202" y="902607"/>
            <a:ext cx="49857" cy="274320"/>
          </a:xfrm>
          <a:prstGeom prst="rightBracke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91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780</Words>
  <Application>Microsoft Office PowerPoint</Application>
  <PresentationFormat>Widescreen</PresentationFormat>
  <Paragraphs>123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Wilkinson</dc:creator>
  <cp:lastModifiedBy>Grace Wilkinson</cp:lastModifiedBy>
  <cp:revision>6</cp:revision>
  <dcterms:created xsi:type="dcterms:W3CDTF">2024-10-18T16:44:29Z</dcterms:created>
  <dcterms:modified xsi:type="dcterms:W3CDTF">2025-05-14T18:39:02Z</dcterms:modified>
</cp:coreProperties>
</file>